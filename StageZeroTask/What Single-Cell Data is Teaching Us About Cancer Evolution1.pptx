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A1C0EA-3F0E-43D4-84E4-11B5CC3C79D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EBADA00-2F2C-455A-8225-6FCD39125B7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Single-cell data helps:</a:t>
          </a:r>
          <a:endParaRPr lang="en-US"/>
        </a:p>
      </dgm:t>
    </dgm:pt>
    <dgm:pt modelId="{97AA7F71-FD9A-4C08-B513-1A080CE6023B}" type="parTrans" cxnId="{20677546-C391-4A15-8360-B816C350BB8A}">
      <dgm:prSet/>
      <dgm:spPr/>
      <dgm:t>
        <a:bodyPr/>
        <a:lstStyle/>
        <a:p>
          <a:endParaRPr lang="en-US"/>
        </a:p>
      </dgm:t>
    </dgm:pt>
    <dgm:pt modelId="{E631C652-BBD8-4E2F-9C07-F6DE205D7D0E}" type="sibTrans" cxnId="{20677546-C391-4A15-8360-B816C350BB8A}">
      <dgm:prSet/>
      <dgm:spPr/>
      <dgm:t>
        <a:bodyPr/>
        <a:lstStyle/>
        <a:p>
          <a:endParaRPr lang="en-US"/>
        </a:p>
      </dgm:t>
    </dgm:pt>
    <dgm:pt modelId="{E12EB3C4-36A8-47D9-BDDB-4F7412BE791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Spot rare cells driving relapse</a:t>
          </a:r>
          <a:endParaRPr lang="en-US" dirty="0"/>
        </a:p>
      </dgm:t>
    </dgm:pt>
    <dgm:pt modelId="{A3EF9AC8-0F98-460C-8B8E-EF467442A103}" type="parTrans" cxnId="{CA006F93-0F86-44CE-BC80-28E0605CB072}">
      <dgm:prSet/>
      <dgm:spPr/>
      <dgm:t>
        <a:bodyPr/>
        <a:lstStyle/>
        <a:p>
          <a:endParaRPr lang="en-US"/>
        </a:p>
      </dgm:t>
    </dgm:pt>
    <dgm:pt modelId="{D7E4E61B-B416-43C3-BACB-8FEC25F35376}" type="sibTrans" cxnId="{CA006F93-0F86-44CE-BC80-28E0605CB072}">
      <dgm:prSet/>
      <dgm:spPr/>
      <dgm:t>
        <a:bodyPr/>
        <a:lstStyle/>
        <a:p>
          <a:endParaRPr lang="en-US"/>
        </a:p>
      </dgm:t>
    </dgm:pt>
    <dgm:pt modelId="{C98290D7-5165-42EA-96A4-A9710142037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Map tumour interactions</a:t>
          </a:r>
          <a:endParaRPr lang="en-US" dirty="0"/>
        </a:p>
      </dgm:t>
    </dgm:pt>
    <dgm:pt modelId="{BBEB715A-E8B5-4616-A213-1F5D9143C0B9}" type="parTrans" cxnId="{866B5442-A013-4B5F-8D72-4431E9B6338C}">
      <dgm:prSet/>
      <dgm:spPr/>
      <dgm:t>
        <a:bodyPr/>
        <a:lstStyle/>
        <a:p>
          <a:endParaRPr lang="en-US"/>
        </a:p>
      </dgm:t>
    </dgm:pt>
    <dgm:pt modelId="{FBF416C6-3C20-4F2C-A76D-D070D2306555}" type="sibTrans" cxnId="{866B5442-A013-4B5F-8D72-4431E9B6338C}">
      <dgm:prSet/>
      <dgm:spPr/>
      <dgm:t>
        <a:bodyPr/>
        <a:lstStyle/>
        <a:p>
          <a:endParaRPr lang="en-US"/>
        </a:p>
      </dgm:t>
    </dgm:pt>
    <dgm:pt modelId="{06AA9687-6050-44B8-AF05-6CA24BE54D6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Predict how cancers might adapt</a:t>
          </a:r>
          <a:endParaRPr lang="en-US" dirty="0"/>
        </a:p>
      </dgm:t>
    </dgm:pt>
    <dgm:pt modelId="{86A9FDD5-B4E1-4CC7-8516-AED6C9C55E71}" type="parTrans" cxnId="{44A1813C-B3E1-434E-AC15-0EFB23ED8A03}">
      <dgm:prSet/>
      <dgm:spPr/>
      <dgm:t>
        <a:bodyPr/>
        <a:lstStyle/>
        <a:p>
          <a:endParaRPr lang="en-US"/>
        </a:p>
      </dgm:t>
    </dgm:pt>
    <dgm:pt modelId="{372296A7-0FD2-46C7-95EF-FF7895E7D684}" type="sibTrans" cxnId="{44A1813C-B3E1-434E-AC15-0EFB23ED8A03}">
      <dgm:prSet/>
      <dgm:spPr/>
      <dgm:t>
        <a:bodyPr/>
        <a:lstStyle/>
        <a:p>
          <a:endParaRPr lang="en-US"/>
        </a:p>
      </dgm:t>
    </dgm:pt>
    <dgm:pt modelId="{4E36BB6E-D855-4EDE-8A32-38AD69378F7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Future: AI, spatial maps, personalized therapy.</a:t>
          </a:r>
          <a:endParaRPr lang="en-US" dirty="0"/>
        </a:p>
      </dgm:t>
    </dgm:pt>
    <dgm:pt modelId="{BA899B74-10E1-4234-91F8-49EFAA972A09}" type="parTrans" cxnId="{2B9E31EA-EBB3-4A02-ADA3-B9EBE5E25257}">
      <dgm:prSet/>
      <dgm:spPr/>
      <dgm:t>
        <a:bodyPr/>
        <a:lstStyle/>
        <a:p>
          <a:endParaRPr lang="en-US"/>
        </a:p>
      </dgm:t>
    </dgm:pt>
    <dgm:pt modelId="{C9541CDE-17FF-4472-A4B7-11BA0F85284C}" type="sibTrans" cxnId="{2B9E31EA-EBB3-4A02-ADA3-B9EBE5E25257}">
      <dgm:prSet/>
      <dgm:spPr/>
      <dgm:t>
        <a:bodyPr/>
        <a:lstStyle/>
        <a:p>
          <a:endParaRPr lang="en-US"/>
        </a:p>
      </dgm:t>
    </dgm:pt>
    <dgm:pt modelId="{DD25E954-FF0F-4939-80B8-598B4860470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Takeaway: Cancer is </a:t>
          </a:r>
          <a:r>
            <a:rPr lang="en-GB" b="1"/>
            <a:t>alive, adaptable, and collaborative</a:t>
          </a:r>
          <a:r>
            <a:rPr lang="en-GB"/>
            <a:t> – understanding it cell by cell is game-changing.</a:t>
          </a:r>
          <a:endParaRPr lang="en-US"/>
        </a:p>
      </dgm:t>
    </dgm:pt>
    <dgm:pt modelId="{D93644E0-A2ED-4C05-8C81-55D13ADBF744}" type="parTrans" cxnId="{DBC2F3FE-02CC-4242-AEA4-BF3C33A687A0}">
      <dgm:prSet/>
      <dgm:spPr/>
      <dgm:t>
        <a:bodyPr/>
        <a:lstStyle/>
        <a:p>
          <a:endParaRPr lang="en-US"/>
        </a:p>
      </dgm:t>
    </dgm:pt>
    <dgm:pt modelId="{A07855A6-1956-4FA7-B774-42F70C8A66B9}" type="sibTrans" cxnId="{DBC2F3FE-02CC-4242-AEA4-BF3C33A687A0}">
      <dgm:prSet/>
      <dgm:spPr/>
      <dgm:t>
        <a:bodyPr/>
        <a:lstStyle/>
        <a:p>
          <a:endParaRPr lang="en-US"/>
        </a:p>
      </dgm:t>
    </dgm:pt>
    <dgm:pt modelId="{ED6C7E50-852D-4206-B031-5A701F1C2759}" type="pres">
      <dgm:prSet presAssocID="{E4A1C0EA-3F0E-43D4-84E4-11B5CC3C79D4}" presName="root" presStyleCnt="0">
        <dgm:presLayoutVars>
          <dgm:dir/>
          <dgm:resizeHandles val="exact"/>
        </dgm:presLayoutVars>
      </dgm:prSet>
      <dgm:spPr/>
    </dgm:pt>
    <dgm:pt modelId="{7024CC44-067B-4D18-A502-B6E4E5BFB551}" type="pres">
      <dgm:prSet presAssocID="{7EBADA00-2F2C-455A-8225-6FCD39125B7E}" presName="compNode" presStyleCnt="0"/>
      <dgm:spPr/>
    </dgm:pt>
    <dgm:pt modelId="{E9A65D4F-7114-486D-A7A5-217CA932DFEB}" type="pres">
      <dgm:prSet presAssocID="{7EBADA00-2F2C-455A-8225-6FCD39125B7E}" presName="bgRect" presStyleLbl="bgShp" presStyleIdx="0" presStyleCnt="3"/>
      <dgm:spPr/>
    </dgm:pt>
    <dgm:pt modelId="{E76ECDA6-1C97-42FA-81E3-64CF775673B7}" type="pres">
      <dgm:prSet presAssocID="{7EBADA00-2F2C-455A-8225-6FCD39125B7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236DBE57-C661-476B-9113-BC9C23E14697}" type="pres">
      <dgm:prSet presAssocID="{7EBADA00-2F2C-455A-8225-6FCD39125B7E}" presName="spaceRect" presStyleCnt="0"/>
      <dgm:spPr/>
    </dgm:pt>
    <dgm:pt modelId="{93638D8D-55DA-4F49-B5DB-9C404EA4E5CA}" type="pres">
      <dgm:prSet presAssocID="{7EBADA00-2F2C-455A-8225-6FCD39125B7E}" presName="parTx" presStyleLbl="revTx" presStyleIdx="0" presStyleCnt="4">
        <dgm:presLayoutVars>
          <dgm:chMax val="0"/>
          <dgm:chPref val="0"/>
        </dgm:presLayoutVars>
      </dgm:prSet>
      <dgm:spPr/>
    </dgm:pt>
    <dgm:pt modelId="{14A0393E-5B5C-4E78-B3B3-93362297EE01}" type="pres">
      <dgm:prSet presAssocID="{7EBADA00-2F2C-455A-8225-6FCD39125B7E}" presName="desTx" presStyleLbl="revTx" presStyleIdx="1" presStyleCnt="4">
        <dgm:presLayoutVars/>
      </dgm:prSet>
      <dgm:spPr/>
    </dgm:pt>
    <dgm:pt modelId="{6E7E2294-A203-44E2-AEFD-0B2C95B972FF}" type="pres">
      <dgm:prSet presAssocID="{E631C652-BBD8-4E2F-9C07-F6DE205D7D0E}" presName="sibTrans" presStyleCnt="0"/>
      <dgm:spPr/>
    </dgm:pt>
    <dgm:pt modelId="{AA441073-6EEF-434A-8BC2-845ECE80038A}" type="pres">
      <dgm:prSet presAssocID="{4E36BB6E-D855-4EDE-8A32-38AD69378F7E}" presName="compNode" presStyleCnt="0"/>
      <dgm:spPr/>
    </dgm:pt>
    <dgm:pt modelId="{E1C4012F-2C10-4B81-9433-5D163EBC301C}" type="pres">
      <dgm:prSet presAssocID="{4E36BB6E-D855-4EDE-8A32-38AD69378F7E}" presName="bgRect" presStyleLbl="bgShp" presStyleIdx="1" presStyleCnt="3"/>
      <dgm:spPr/>
    </dgm:pt>
    <dgm:pt modelId="{6A689F23-2348-4CC2-9FE4-CBEBFCDA58CD}" type="pres">
      <dgm:prSet presAssocID="{4E36BB6E-D855-4EDE-8A32-38AD69378F7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02BE348D-F71D-4951-8E1B-4E1F7654DB5B}" type="pres">
      <dgm:prSet presAssocID="{4E36BB6E-D855-4EDE-8A32-38AD69378F7E}" presName="spaceRect" presStyleCnt="0"/>
      <dgm:spPr/>
    </dgm:pt>
    <dgm:pt modelId="{F60F63AC-B4A9-483B-BA08-2837D0173EF8}" type="pres">
      <dgm:prSet presAssocID="{4E36BB6E-D855-4EDE-8A32-38AD69378F7E}" presName="parTx" presStyleLbl="revTx" presStyleIdx="2" presStyleCnt="4">
        <dgm:presLayoutVars>
          <dgm:chMax val="0"/>
          <dgm:chPref val="0"/>
        </dgm:presLayoutVars>
      </dgm:prSet>
      <dgm:spPr/>
    </dgm:pt>
    <dgm:pt modelId="{1289450F-6420-429E-B774-0D90600A3549}" type="pres">
      <dgm:prSet presAssocID="{C9541CDE-17FF-4472-A4B7-11BA0F85284C}" presName="sibTrans" presStyleCnt="0"/>
      <dgm:spPr/>
    </dgm:pt>
    <dgm:pt modelId="{A65EAB6D-58DB-4398-8796-AFDDD605B655}" type="pres">
      <dgm:prSet presAssocID="{DD25E954-FF0F-4939-80B8-598B48604709}" presName="compNode" presStyleCnt="0"/>
      <dgm:spPr/>
    </dgm:pt>
    <dgm:pt modelId="{B39C53B6-9CF3-4220-9A05-2B45F74821FE}" type="pres">
      <dgm:prSet presAssocID="{DD25E954-FF0F-4939-80B8-598B48604709}" presName="bgRect" presStyleLbl="bgShp" presStyleIdx="2" presStyleCnt="3"/>
      <dgm:spPr/>
    </dgm:pt>
    <dgm:pt modelId="{6BD02158-926C-4AF4-9935-3A693F487BC0}" type="pres">
      <dgm:prSet presAssocID="{DD25E954-FF0F-4939-80B8-598B4860470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AB563B91-7FF6-45B9-92F5-A8F52C92B08E}" type="pres">
      <dgm:prSet presAssocID="{DD25E954-FF0F-4939-80B8-598B48604709}" presName="spaceRect" presStyleCnt="0"/>
      <dgm:spPr/>
    </dgm:pt>
    <dgm:pt modelId="{25CD2AEF-A7CF-4630-93A5-6F3490C37955}" type="pres">
      <dgm:prSet presAssocID="{DD25E954-FF0F-4939-80B8-598B4860470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68FB903-D858-4066-B6B5-98DACFDC495C}" type="presOf" srcId="{E4A1C0EA-3F0E-43D4-84E4-11B5CC3C79D4}" destId="{ED6C7E50-852D-4206-B031-5A701F1C2759}" srcOrd="0" destOrd="0" presId="urn:microsoft.com/office/officeart/2018/2/layout/IconVerticalSolidList"/>
    <dgm:cxn modelId="{44A1813C-B3E1-434E-AC15-0EFB23ED8A03}" srcId="{7EBADA00-2F2C-455A-8225-6FCD39125B7E}" destId="{06AA9687-6050-44B8-AF05-6CA24BE54D6E}" srcOrd="2" destOrd="0" parTransId="{86A9FDD5-B4E1-4CC7-8516-AED6C9C55E71}" sibTransId="{372296A7-0FD2-46C7-95EF-FF7895E7D684}"/>
    <dgm:cxn modelId="{DB20DD5B-35E5-4F94-B3A4-0F6D8728834F}" type="presOf" srcId="{DD25E954-FF0F-4939-80B8-598B48604709}" destId="{25CD2AEF-A7CF-4630-93A5-6F3490C37955}" srcOrd="0" destOrd="0" presId="urn:microsoft.com/office/officeart/2018/2/layout/IconVerticalSolidList"/>
    <dgm:cxn modelId="{866B5442-A013-4B5F-8D72-4431E9B6338C}" srcId="{7EBADA00-2F2C-455A-8225-6FCD39125B7E}" destId="{C98290D7-5165-42EA-96A4-A97101420376}" srcOrd="1" destOrd="0" parTransId="{BBEB715A-E8B5-4616-A213-1F5D9143C0B9}" sibTransId="{FBF416C6-3C20-4F2C-A76D-D070D2306555}"/>
    <dgm:cxn modelId="{20677546-C391-4A15-8360-B816C350BB8A}" srcId="{E4A1C0EA-3F0E-43D4-84E4-11B5CC3C79D4}" destId="{7EBADA00-2F2C-455A-8225-6FCD39125B7E}" srcOrd="0" destOrd="0" parTransId="{97AA7F71-FD9A-4C08-B513-1A080CE6023B}" sibTransId="{E631C652-BBD8-4E2F-9C07-F6DE205D7D0E}"/>
    <dgm:cxn modelId="{196D6584-D1A1-4FAF-A717-DE059A2A34C5}" type="presOf" srcId="{4E36BB6E-D855-4EDE-8A32-38AD69378F7E}" destId="{F60F63AC-B4A9-483B-BA08-2837D0173EF8}" srcOrd="0" destOrd="0" presId="urn:microsoft.com/office/officeart/2018/2/layout/IconVerticalSolidList"/>
    <dgm:cxn modelId="{0B130490-DEF4-4052-AD0C-9B240F575E6E}" type="presOf" srcId="{C98290D7-5165-42EA-96A4-A97101420376}" destId="{14A0393E-5B5C-4E78-B3B3-93362297EE01}" srcOrd="0" destOrd="1" presId="urn:microsoft.com/office/officeart/2018/2/layout/IconVerticalSolidList"/>
    <dgm:cxn modelId="{CA006F93-0F86-44CE-BC80-28E0605CB072}" srcId="{7EBADA00-2F2C-455A-8225-6FCD39125B7E}" destId="{E12EB3C4-36A8-47D9-BDDB-4F7412BE7917}" srcOrd="0" destOrd="0" parTransId="{A3EF9AC8-0F98-460C-8B8E-EF467442A103}" sibTransId="{D7E4E61B-B416-43C3-BACB-8FEC25F35376}"/>
    <dgm:cxn modelId="{27E22CB6-F0A2-4934-B865-6F265363ABE5}" type="presOf" srcId="{E12EB3C4-36A8-47D9-BDDB-4F7412BE7917}" destId="{14A0393E-5B5C-4E78-B3B3-93362297EE01}" srcOrd="0" destOrd="0" presId="urn:microsoft.com/office/officeart/2018/2/layout/IconVerticalSolidList"/>
    <dgm:cxn modelId="{BCE18FC9-F0B8-449B-A15D-13609E16E63C}" type="presOf" srcId="{7EBADA00-2F2C-455A-8225-6FCD39125B7E}" destId="{93638D8D-55DA-4F49-B5DB-9C404EA4E5CA}" srcOrd="0" destOrd="0" presId="urn:microsoft.com/office/officeart/2018/2/layout/IconVerticalSolidList"/>
    <dgm:cxn modelId="{102CF7DE-A11A-488B-B5F8-A38098302D3E}" type="presOf" srcId="{06AA9687-6050-44B8-AF05-6CA24BE54D6E}" destId="{14A0393E-5B5C-4E78-B3B3-93362297EE01}" srcOrd="0" destOrd="2" presId="urn:microsoft.com/office/officeart/2018/2/layout/IconVerticalSolidList"/>
    <dgm:cxn modelId="{2B9E31EA-EBB3-4A02-ADA3-B9EBE5E25257}" srcId="{E4A1C0EA-3F0E-43D4-84E4-11B5CC3C79D4}" destId="{4E36BB6E-D855-4EDE-8A32-38AD69378F7E}" srcOrd="1" destOrd="0" parTransId="{BA899B74-10E1-4234-91F8-49EFAA972A09}" sibTransId="{C9541CDE-17FF-4472-A4B7-11BA0F85284C}"/>
    <dgm:cxn modelId="{DBC2F3FE-02CC-4242-AEA4-BF3C33A687A0}" srcId="{E4A1C0EA-3F0E-43D4-84E4-11B5CC3C79D4}" destId="{DD25E954-FF0F-4939-80B8-598B48604709}" srcOrd="2" destOrd="0" parTransId="{D93644E0-A2ED-4C05-8C81-55D13ADBF744}" sibTransId="{A07855A6-1956-4FA7-B774-42F70C8A66B9}"/>
    <dgm:cxn modelId="{8222C9EE-231C-4703-8952-02D8CEF3EDFD}" type="presParOf" srcId="{ED6C7E50-852D-4206-B031-5A701F1C2759}" destId="{7024CC44-067B-4D18-A502-B6E4E5BFB551}" srcOrd="0" destOrd="0" presId="urn:microsoft.com/office/officeart/2018/2/layout/IconVerticalSolidList"/>
    <dgm:cxn modelId="{2A806EF1-F7DD-4CCF-9D19-84C069C433D9}" type="presParOf" srcId="{7024CC44-067B-4D18-A502-B6E4E5BFB551}" destId="{E9A65D4F-7114-486D-A7A5-217CA932DFEB}" srcOrd="0" destOrd="0" presId="urn:microsoft.com/office/officeart/2018/2/layout/IconVerticalSolidList"/>
    <dgm:cxn modelId="{19CF0F68-ECCB-4A71-8160-10F92922C009}" type="presParOf" srcId="{7024CC44-067B-4D18-A502-B6E4E5BFB551}" destId="{E76ECDA6-1C97-42FA-81E3-64CF775673B7}" srcOrd="1" destOrd="0" presId="urn:microsoft.com/office/officeart/2018/2/layout/IconVerticalSolidList"/>
    <dgm:cxn modelId="{9D531408-CFF5-49BB-A56B-EB759C942F46}" type="presParOf" srcId="{7024CC44-067B-4D18-A502-B6E4E5BFB551}" destId="{236DBE57-C661-476B-9113-BC9C23E14697}" srcOrd="2" destOrd="0" presId="urn:microsoft.com/office/officeart/2018/2/layout/IconVerticalSolidList"/>
    <dgm:cxn modelId="{DEBB60BC-1BC8-471D-87FA-BCA50EF6F439}" type="presParOf" srcId="{7024CC44-067B-4D18-A502-B6E4E5BFB551}" destId="{93638D8D-55DA-4F49-B5DB-9C404EA4E5CA}" srcOrd="3" destOrd="0" presId="urn:microsoft.com/office/officeart/2018/2/layout/IconVerticalSolidList"/>
    <dgm:cxn modelId="{A876852A-6BA3-4066-8C48-A2F1ADDD3E14}" type="presParOf" srcId="{7024CC44-067B-4D18-A502-B6E4E5BFB551}" destId="{14A0393E-5B5C-4E78-B3B3-93362297EE01}" srcOrd="4" destOrd="0" presId="urn:microsoft.com/office/officeart/2018/2/layout/IconVerticalSolidList"/>
    <dgm:cxn modelId="{E1D8248D-5155-49D4-B956-4F1C86433F2A}" type="presParOf" srcId="{ED6C7E50-852D-4206-B031-5A701F1C2759}" destId="{6E7E2294-A203-44E2-AEFD-0B2C95B972FF}" srcOrd="1" destOrd="0" presId="urn:microsoft.com/office/officeart/2018/2/layout/IconVerticalSolidList"/>
    <dgm:cxn modelId="{37C43993-1F5C-452D-B718-E862B95804BF}" type="presParOf" srcId="{ED6C7E50-852D-4206-B031-5A701F1C2759}" destId="{AA441073-6EEF-434A-8BC2-845ECE80038A}" srcOrd="2" destOrd="0" presId="urn:microsoft.com/office/officeart/2018/2/layout/IconVerticalSolidList"/>
    <dgm:cxn modelId="{87AFD265-E266-41D9-875C-9E4CE1AEB140}" type="presParOf" srcId="{AA441073-6EEF-434A-8BC2-845ECE80038A}" destId="{E1C4012F-2C10-4B81-9433-5D163EBC301C}" srcOrd="0" destOrd="0" presId="urn:microsoft.com/office/officeart/2018/2/layout/IconVerticalSolidList"/>
    <dgm:cxn modelId="{40FEFF5E-2FEB-42F1-B626-80AB24F86FD0}" type="presParOf" srcId="{AA441073-6EEF-434A-8BC2-845ECE80038A}" destId="{6A689F23-2348-4CC2-9FE4-CBEBFCDA58CD}" srcOrd="1" destOrd="0" presId="urn:microsoft.com/office/officeart/2018/2/layout/IconVerticalSolidList"/>
    <dgm:cxn modelId="{166B9C14-B222-4FF6-8960-D449890D5DAA}" type="presParOf" srcId="{AA441073-6EEF-434A-8BC2-845ECE80038A}" destId="{02BE348D-F71D-4951-8E1B-4E1F7654DB5B}" srcOrd="2" destOrd="0" presId="urn:microsoft.com/office/officeart/2018/2/layout/IconVerticalSolidList"/>
    <dgm:cxn modelId="{52D86D5D-819A-497E-8EB7-0FBDEFAFCFFA}" type="presParOf" srcId="{AA441073-6EEF-434A-8BC2-845ECE80038A}" destId="{F60F63AC-B4A9-483B-BA08-2837D0173EF8}" srcOrd="3" destOrd="0" presId="urn:microsoft.com/office/officeart/2018/2/layout/IconVerticalSolidList"/>
    <dgm:cxn modelId="{3423746F-35A0-48AA-A92A-308507CD068A}" type="presParOf" srcId="{ED6C7E50-852D-4206-B031-5A701F1C2759}" destId="{1289450F-6420-429E-B774-0D90600A3549}" srcOrd="3" destOrd="0" presId="urn:microsoft.com/office/officeart/2018/2/layout/IconVerticalSolidList"/>
    <dgm:cxn modelId="{42E4D2F3-8419-4190-AB6F-66D4AF294B6D}" type="presParOf" srcId="{ED6C7E50-852D-4206-B031-5A701F1C2759}" destId="{A65EAB6D-58DB-4398-8796-AFDDD605B655}" srcOrd="4" destOrd="0" presId="urn:microsoft.com/office/officeart/2018/2/layout/IconVerticalSolidList"/>
    <dgm:cxn modelId="{E907466A-1136-4714-8432-01604C603B1E}" type="presParOf" srcId="{A65EAB6D-58DB-4398-8796-AFDDD605B655}" destId="{B39C53B6-9CF3-4220-9A05-2B45F74821FE}" srcOrd="0" destOrd="0" presId="urn:microsoft.com/office/officeart/2018/2/layout/IconVerticalSolidList"/>
    <dgm:cxn modelId="{B9BBB8A7-F2C5-490F-928E-8A91D562C280}" type="presParOf" srcId="{A65EAB6D-58DB-4398-8796-AFDDD605B655}" destId="{6BD02158-926C-4AF4-9935-3A693F487BC0}" srcOrd="1" destOrd="0" presId="urn:microsoft.com/office/officeart/2018/2/layout/IconVerticalSolidList"/>
    <dgm:cxn modelId="{CAEE7152-BAC1-4218-A11F-564FAE4CCCE9}" type="presParOf" srcId="{A65EAB6D-58DB-4398-8796-AFDDD605B655}" destId="{AB563B91-7FF6-45B9-92F5-A8F52C92B08E}" srcOrd="2" destOrd="0" presId="urn:microsoft.com/office/officeart/2018/2/layout/IconVerticalSolidList"/>
    <dgm:cxn modelId="{7A65F38A-4267-427A-A1C5-90FA63CDEF50}" type="presParOf" srcId="{A65EAB6D-58DB-4398-8796-AFDDD605B655}" destId="{25CD2AEF-A7CF-4630-93A5-6F3490C3795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A65D4F-7114-486D-A7A5-217CA932DFEB}">
      <dsp:nvSpPr>
        <dsp:cNvPr id="0" name=""/>
        <dsp:cNvSpPr/>
      </dsp:nvSpPr>
      <dsp:spPr>
        <a:xfrm>
          <a:off x="0" y="3428"/>
          <a:ext cx="5849557" cy="16033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6ECDA6-1C97-42FA-81E3-64CF775673B7}">
      <dsp:nvSpPr>
        <dsp:cNvPr id="0" name=""/>
        <dsp:cNvSpPr/>
      </dsp:nvSpPr>
      <dsp:spPr>
        <a:xfrm>
          <a:off x="485006" y="364177"/>
          <a:ext cx="881829" cy="8818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638D8D-55DA-4F49-B5DB-9C404EA4E5CA}">
      <dsp:nvSpPr>
        <dsp:cNvPr id="0" name=""/>
        <dsp:cNvSpPr/>
      </dsp:nvSpPr>
      <dsp:spPr>
        <a:xfrm>
          <a:off x="1851842" y="3428"/>
          <a:ext cx="2632300" cy="1603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85" tIns="169685" rIns="169685" bIns="16968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Single-cell data helps:</a:t>
          </a:r>
          <a:endParaRPr lang="en-US" sz="2000" kern="1200"/>
        </a:p>
      </dsp:txBody>
      <dsp:txXfrm>
        <a:off x="1851842" y="3428"/>
        <a:ext cx="2632300" cy="1603326"/>
      </dsp:txXfrm>
    </dsp:sp>
    <dsp:sp modelId="{14A0393E-5B5C-4E78-B3B3-93362297EE01}">
      <dsp:nvSpPr>
        <dsp:cNvPr id="0" name=""/>
        <dsp:cNvSpPr/>
      </dsp:nvSpPr>
      <dsp:spPr>
        <a:xfrm>
          <a:off x="4484143" y="3428"/>
          <a:ext cx="1363603" cy="1603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85" tIns="169685" rIns="169685" bIns="169685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Spot rare cells driving relapse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Map tumour interactions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Predict how cancers might adapt</a:t>
          </a:r>
          <a:endParaRPr lang="en-US" sz="1100" kern="1200" dirty="0"/>
        </a:p>
      </dsp:txBody>
      <dsp:txXfrm>
        <a:off x="4484143" y="3428"/>
        <a:ext cx="1363603" cy="1603326"/>
      </dsp:txXfrm>
    </dsp:sp>
    <dsp:sp modelId="{E1C4012F-2C10-4B81-9433-5D163EBC301C}">
      <dsp:nvSpPr>
        <dsp:cNvPr id="0" name=""/>
        <dsp:cNvSpPr/>
      </dsp:nvSpPr>
      <dsp:spPr>
        <a:xfrm>
          <a:off x="0" y="2007587"/>
          <a:ext cx="5849557" cy="16033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689F23-2348-4CC2-9FE4-CBEBFCDA58CD}">
      <dsp:nvSpPr>
        <dsp:cNvPr id="0" name=""/>
        <dsp:cNvSpPr/>
      </dsp:nvSpPr>
      <dsp:spPr>
        <a:xfrm>
          <a:off x="485006" y="2368335"/>
          <a:ext cx="881829" cy="8818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0F63AC-B4A9-483B-BA08-2837D0173EF8}">
      <dsp:nvSpPr>
        <dsp:cNvPr id="0" name=""/>
        <dsp:cNvSpPr/>
      </dsp:nvSpPr>
      <dsp:spPr>
        <a:xfrm>
          <a:off x="1851842" y="2007587"/>
          <a:ext cx="3995904" cy="1603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85" tIns="169685" rIns="169685" bIns="16968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Future: AI, spatial maps, personalized therapy.</a:t>
          </a:r>
          <a:endParaRPr lang="en-US" sz="2000" kern="1200" dirty="0"/>
        </a:p>
      </dsp:txBody>
      <dsp:txXfrm>
        <a:off x="1851842" y="2007587"/>
        <a:ext cx="3995904" cy="1603326"/>
      </dsp:txXfrm>
    </dsp:sp>
    <dsp:sp modelId="{B39C53B6-9CF3-4220-9A05-2B45F74821FE}">
      <dsp:nvSpPr>
        <dsp:cNvPr id="0" name=""/>
        <dsp:cNvSpPr/>
      </dsp:nvSpPr>
      <dsp:spPr>
        <a:xfrm>
          <a:off x="0" y="4011745"/>
          <a:ext cx="5849557" cy="16033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D02158-926C-4AF4-9935-3A693F487BC0}">
      <dsp:nvSpPr>
        <dsp:cNvPr id="0" name=""/>
        <dsp:cNvSpPr/>
      </dsp:nvSpPr>
      <dsp:spPr>
        <a:xfrm>
          <a:off x="485006" y="4372494"/>
          <a:ext cx="881829" cy="8818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CD2AEF-A7CF-4630-93A5-6F3490C37955}">
      <dsp:nvSpPr>
        <dsp:cNvPr id="0" name=""/>
        <dsp:cNvSpPr/>
      </dsp:nvSpPr>
      <dsp:spPr>
        <a:xfrm>
          <a:off x="1851842" y="4011745"/>
          <a:ext cx="3995904" cy="1603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85" tIns="169685" rIns="169685" bIns="16968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Takeaway: Cancer is </a:t>
          </a:r>
          <a:r>
            <a:rPr lang="en-GB" sz="2000" b="1" kern="1200"/>
            <a:t>alive, adaptable, and collaborative</a:t>
          </a:r>
          <a:r>
            <a:rPr lang="en-GB" sz="2000" kern="1200"/>
            <a:t> – understanding it cell by cell is game-changing.</a:t>
          </a:r>
          <a:endParaRPr lang="en-US" sz="2000" kern="1200"/>
        </a:p>
      </dsp:txBody>
      <dsp:txXfrm>
        <a:off x="1851842" y="4011745"/>
        <a:ext cx="3995904" cy="16033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07044-71F8-6EB3-91EE-7FFDD5BBB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50A710-5417-6D02-C29B-6F31581C9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ADD39-C9DB-BBB9-4313-89559EF71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E41F0-4CB4-5CD7-DE7C-9572DA0E0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6A1CD-C46A-3288-C343-C23C4CF8F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12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6C46B-FBDC-BAAF-B2B2-984C8B191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AB3D1-21BB-7ED7-1BC8-9C771A31F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975C8-8E9F-F857-A1D8-F72D47405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0AA14-B01F-3BDD-1FFE-31B0729F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C8A4D-B363-6158-6357-28C97759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28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51FF3-5AB7-0CEA-EA92-0D7ABC414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85804-7679-F85E-8AEF-BF4D074D1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B8A07-6A89-F3F8-FC48-1E4951FE5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13D15-4921-2794-FD1E-CD674DDCB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323E3-26DD-7958-5F34-1177C0136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354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45ED7-6A60-EB3F-823B-2DA174FD5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EB21A-7291-FD10-404C-AD9A354379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7DFAA-BC30-D426-761D-BCE28B132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1FA90-5154-7191-D78D-0ED99DEB4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1C0E3-54A6-75EB-5343-5B4D10CD8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66833-9297-81EB-4D04-4D4918F54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818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52251-5893-D359-EB82-05C49BBDA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6212F-1319-7B3A-7C2F-E8C95AE23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DCBB6-DCC9-38FC-8C23-4C3BED419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B76BE6-C387-69D8-80EF-07190D7A3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7BE6BF-2DAB-B805-684A-1A5CA2C2C3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D5E5F4-2277-98AA-8DBF-8589F3550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BC1F2E-AC62-A13F-B5CA-0C4A4A1FF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F71E76-D33D-D084-E1E5-428D8676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2707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4460B-1C76-54ED-B3BC-A49E06799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DF007F-D595-48D3-A55E-69C5CB4AF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92F5BB-62DD-8506-180A-E1AC39963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F55E5-DD53-5E11-D6BF-91AF8CF89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5156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C86FDA-4438-9864-014F-7E1637D3D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D8D0B4-D787-A902-EC9D-0F4F0F70D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E308F-D968-4DAC-E8B2-F32C34784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9362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2DBF1-F166-7E27-4B24-B8F9E23D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A8B32-14A8-13AE-EECD-1062EAD42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0B220-CC1D-2C2C-2286-FB68645A2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E681E-14A6-96F5-0E7B-6C31912F4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350D5-D62D-BDEB-F65D-319849EBE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9C760-4F7B-4D85-D1DB-FF65C694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870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3D55-493A-C06D-051E-361A49579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8B9990-39CA-0542-77E1-0EDEE4DF10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9BA1B-601C-1AD9-6A58-DA2ABFCFB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42BC6-8E46-B90D-1000-E3F3C069E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BC998-B2FC-91C1-FC67-E5CF67D24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3E6DA-5C8B-1584-AE5C-FD4BCFE8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5423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493D0-4757-B2D2-5F9C-E2DCF0719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D95A51-545D-A1F4-864B-7A1F6D564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E4926-DEA0-C44D-1E9A-4323E4203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7AC79-5B55-EF30-D5F9-53FA7405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E9663-FD33-C78E-C530-F3807180E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641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F40524-9A08-3D0E-4559-218B4C4FBA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0412E4-0585-1B9A-052F-633593955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70833-6D4C-49F0-30B5-73C607DB6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18431-DCE6-124F-87EC-2FC0CAD21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C64AF-FED9-485E-7CC8-CEA0ECA92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036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41A35-5334-D757-6B55-E6EAA7299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DAA07-02F8-DAAB-BC09-61CA230FE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0D8C8-FC12-2AFC-CAA5-99AAC290B8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DA61C4-08B0-4665-A8D5-F2ED9D530FA9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A066D-2523-F3A7-3C24-C9CB785AED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99DEA-C625-405F-844B-F00906414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533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pload.wikimedia.org/wikipedia/commons/b/b9/%D7%A6%D7%99%D7%9C%D7%95%D7%9D_%D7%9E%D7%A1%D7%9A_2017.07.14_%D7%91.21.42.55.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Close up of cells">
            <a:extLst>
              <a:ext uri="{FF2B5EF4-FFF2-40B4-BE49-F238E27FC236}">
                <a16:creationId xmlns:a16="http://schemas.microsoft.com/office/drawing/2014/main" id="{D543AF45-953D-9F5E-8032-08CE5893A0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41" r="914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81C91A-0E5B-D010-298E-88F2796B2597}"/>
              </a:ext>
            </a:extLst>
          </p:cNvPr>
          <p:cNvSpPr txBox="1"/>
          <p:nvPr/>
        </p:nvSpPr>
        <p:spPr>
          <a:xfrm>
            <a:off x="7500437" y="2174428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b="1" i="0" dirty="0">
                <a:effectLst/>
              </a:rPr>
              <a:t>What Single-Cell Data Is </a:t>
            </a:r>
            <a:br>
              <a:rPr lang="en-US" sz="3600" b="1" dirty="0"/>
            </a:br>
            <a:r>
              <a:rPr lang="en-US" sz="3600" b="1" i="0" dirty="0">
                <a:effectLst/>
              </a:rPr>
              <a:t>Teaching Us About </a:t>
            </a:r>
            <a:br>
              <a:rPr lang="en-US" sz="3600" b="1" dirty="0"/>
            </a:br>
            <a:r>
              <a:rPr lang="en-US" sz="3600" b="1" i="0" dirty="0">
                <a:effectLst/>
              </a:rPr>
              <a:t>Cancer Evolution</a:t>
            </a:r>
            <a:br>
              <a:rPr lang="en-US" sz="2000" dirty="0"/>
            </a:br>
            <a:endParaRPr lang="en-US" sz="2000" dirty="0"/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b="0" i="0" dirty="0">
                <a:effectLst/>
              </a:rPr>
              <a:t>From curiosity to cancer insight </a:t>
            </a:r>
            <a:br>
              <a:rPr lang="en-US" sz="2000" dirty="0"/>
            </a:br>
            <a:r>
              <a:rPr lang="en-US" sz="2000" b="0" i="0" dirty="0">
                <a:effectLst/>
              </a:rPr>
              <a:t>one cell at a time.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74474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FEAE179-C525-48F3-AD47-0E9E2B6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CA6278-0FC8-A411-5EF6-B37223F312C8}"/>
              </a:ext>
            </a:extLst>
          </p:cNvPr>
          <p:cNvSpPr txBox="1"/>
          <p:nvPr/>
        </p:nvSpPr>
        <p:spPr>
          <a:xfrm>
            <a:off x="517889" y="4883544"/>
            <a:ext cx="3876086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latin typeface="+mj-lt"/>
                <a:ea typeface="+mj-ea"/>
                <a:cs typeface="+mj-cs"/>
              </a:rPr>
              <a:t>Cancer as a Living, Evolving System</a:t>
            </a:r>
            <a:endParaRPr lang="en-US" sz="2800" dirty="0"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diagram of cancer and dysplasia&#10;&#10;AI-generated content may be incorrect.">
            <a:extLst>
              <a:ext uri="{FF2B5EF4-FFF2-40B4-BE49-F238E27FC236}">
                <a16:creationId xmlns:a16="http://schemas.microsoft.com/office/drawing/2014/main" id="{6AD58405-B92D-16F9-EC12-F33829CE4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3" b="6140"/>
          <a:stretch>
            <a:fillRect/>
          </a:stretch>
        </p:blipFill>
        <p:spPr>
          <a:xfrm>
            <a:off x="959205" y="364142"/>
            <a:ext cx="10369645" cy="386799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6CF1A3-DA3A-8B26-C29A-5DCFD1249BC5}"/>
              </a:ext>
            </a:extLst>
          </p:cNvPr>
          <p:cNvSpPr txBox="1"/>
          <p:nvPr/>
        </p:nvSpPr>
        <p:spPr>
          <a:xfrm>
            <a:off x="5162719" y="4883544"/>
            <a:ext cx="6586915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14300" indent="-28575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/>
              <a:t>Cancer isn’t just a lump of cells.</a:t>
            </a:r>
          </a:p>
          <a:p>
            <a:pPr marL="114300" indent="-28575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/>
              <a:t>It’s a </a:t>
            </a:r>
            <a:r>
              <a:rPr lang="en-US" b="1" dirty="0"/>
              <a:t>dynamic ecosystem</a:t>
            </a:r>
            <a:r>
              <a:rPr lang="en-US" dirty="0"/>
              <a:t>: tumor cells, immune cells, and stroma all talking, competing, and adapting </a:t>
            </a:r>
            <a:r>
              <a:rPr lang="en-US" b="1" dirty="0"/>
              <a:t>[5]</a:t>
            </a:r>
            <a:r>
              <a:rPr lang="en-US" dirty="0"/>
              <a:t>.</a:t>
            </a:r>
          </a:p>
          <a:p>
            <a:pPr marL="114300" indent="-28575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/>
              <a:t>Single-cell data lets us peek </a:t>
            </a:r>
            <a:r>
              <a:rPr lang="en-US" b="1" dirty="0"/>
              <a:t>cell by cell [3].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CA09A3-C5F0-5B81-83AD-E4D9B183AE3F}"/>
              </a:ext>
            </a:extLst>
          </p:cNvPr>
          <p:cNvSpPr txBox="1"/>
          <p:nvPr/>
        </p:nvSpPr>
        <p:spPr>
          <a:xfrm>
            <a:off x="9751868" y="4181866"/>
            <a:ext cx="199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Source: </a:t>
            </a:r>
            <a:r>
              <a:rPr lang="en-GB" sz="1400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12</a:t>
            </a:r>
            <a:endParaRPr lang="en-GB" sz="1400" b="1" dirty="0"/>
          </a:p>
        </p:txBody>
      </p:sp>
    </p:spTree>
    <p:extLst>
      <p:ext uri="{BB962C8B-B14F-4D97-AF65-F5344CB8AC3E}">
        <p14:creationId xmlns:p14="http://schemas.microsoft.com/office/powerpoint/2010/main" val="439510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B64174-5889-E059-2D8F-863F31D7C637}"/>
              </a:ext>
            </a:extLst>
          </p:cNvPr>
          <p:cNvSpPr txBox="1"/>
          <p:nvPr/>
        </p:nvSpPr>
        <p:spPr>
          <a:xfrm>
            <a:off x="838200" y="365125"/>
            <a:ext cx="10515600" cy="1306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latin typeface="+mj-lt"/>
                <a:ea typeface="+mj-ea"/>
                <a:cs typeface="+mj-cs"/>
              </a:rPr>
              <a:t>Tumour Diversity (Heterogeneity)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2D39F-247D-4DE7-71F2-E5F97541F132}"/>
              </a:ext>
            </a:extLst>
          </p:cNvPr>
          <p:cNvSpPr txBox="1"/>
          <p:nvPr/>
        </p:nvSpPr>
        <p:spPr>
          <a:xfrm>
            <a:off x="690850" y="1825626"/>
            <a:ext cx="4152774" cy="43034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715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000" dirty="0"/>
              <a:t>Every tumor is unique.</a:t>
            </a:r>
          </a:p>
          <a:p>
            <a:pPr marL="5715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000" dirty="0"/>
              <a:t>Some cells divide fast, some sleep, some hide from therapy.</a:t>
            </a:r>
          </a:p>
          <a:p>
            <a:pPr marL="5715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000" dirty="0"/>
              <a:t>This </a:t>
            </a:r>
            <a:r>
              <a:rPr lang="en-US" sz="2000" b="1" dirty="0"/>
              <a:t>diversity drives evolution</a:t>
            </a:r>
            <a:r>
              <a:rPr lang="en-US" sz="2000" dirty="0"/>
              <a:t> – the more diverse, the harder it is to treat </a:t>
            </a:r>
            <a:r>
              <a:rPr lang="en-US" sz="2000" b="1" dirty="0"/>
              <a:t>[6]</a:t>
            </a:r>
            <a:r>
              <a:rPr lang="en-US" sz="2000" dirty="0"/>
              <a:t>.</a:t>
            </a:r>
          </a:p>
          <a:p>
            <a:pPr marL="5715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000" dirty="0"/>
              <a:t>scRNA-seq lets us map all these cell types </a:t>
            </a:r>
            <a:r>
              <a:rPr lang="en-US" sz="2000" b="1" dirty="0"/>
              <a:t>in one tumour [3]</a:t>
            </a:r>
            <a:r>
              <a:rPr lang="en-US" sz="2000" dirty="0"/>
              <a:t>.</a:t>
            </a:r>
          </a:p>
        </p:txBody>
      </p:sp>
      <p:pic>
        <p:nvPicPr>
          <p:cNvPr id="15" name="Picture 14" descr="A diagram of cell division&#10;&#10;AI-generated content may be incorrect.">
            <a:extLst>
              <a:ext uri="{FF2B5EF4-FFF2-40B4-BE49-F238E27FC236}">
                <a16:creationId xmlns:a16="http://schemas.microsoft.com/office/drawing/2014/main" id="{438A8888-168F-F372-238D-945F03915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" r="2" b="2"/>
          <a:stretch>
            <a:fillRect/>
          </a:stretch>
        </p:blipFill>
        <p:spPr>
          <a:xfrm>
            <a:off x="4843624" y="1671568"/>
            <a:ext cx="6510176" cy="445752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DEA6766-982E-7C08-6DBF-9BD77C9F7772}"/>
              </a:ext>
            </a:extLst>
          </p:cNvPr>
          <p:cNvSpPr txBox="1"/>
          <p:nvPr/>
        </p:nvSpPr>
        <p:spPr>
          <a:xfrm>
            <a:off x="5683827" y="6296891"/>
            <a:ext cx="4546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Source: 4</a:t>
            </a:r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59854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ED7575E-88D2-B771-681D-46A7E554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76457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diagram of a drug-specific cell&#10;&#10;AI-generated content may be incorrect.">
            <a:extLst>
              <a:ext uri="{FF2B5EF4-FFF2-40B4-BE49-F238E27FC236}">
                <a16:creationId xmlns:a16="http://schemas.microsoft.com/office/drawing/2014/main" id="{103FFD45-0D82-F554-CAA4-365D2626B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188" y="702366"/>
            <a:ext cx="6151989" cy="545989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9B97B40-B8A5-41BC-5F69-E20370261049}"/>
              </a:ext>
            </a:extLst>
          </p:cNvPr>
          <p:cNvSpPr txBox="1"/>
          <p:nvPr/>
        </p:nvSpPr>
        <p:spPr>
          <a:xfrm>
            <a:off x="7793182" y="1911928"/>
            <a:ext cx="3794398" cy="4561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Resistance isn’t just mutations – it’s </a:t>
            </a:r>
            <a:r>
              <a:rPr lang="en-US" sz="2400" b="1" dirty="0"/>
              <a:t>flexible, adaptive </a:t>
            </a:r>
            <a:r>
              <a:rPr lang="en-US" sz="2400" b="1" dirty="0" err="1"/>
              <a:t>behaviour</a:t>
            </a:r>
            <a:r>
              <a:rPr lang="en-US" sz="2400" dirty="0"/>
              <a:t>.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Cells can switch identity (plasticity) to survive stress </a:t>
            </a:r>
            <a:r>
              <a:rPr lang="en-US" sz="2400" b="1" dirty="0"/>
              <a:t>[9]</a:t>
            </a:r>
            <a:r>
              <a:rPr lang="en-US" sz="2400" dirty="0"/>
              <a:t>.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Some hide in dormancy, some reprogram metabolism </a:t>
            </a:r>
            <a:r>
              <a:rPr lang="en-US" sz="2400" b="1" dirty="0"/>
              <a:t>[11].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Even the immune system gets tricked – tumours build </a:t>
            </a:r>
            <a:r>
              <a:rPr lang="en-US" sz="2400" b="1" dirty="0"/>
              <a:t>protective niches [10].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79EE5F-1745-B3D8-293B-1357143714BC}"/>
              </a:ext>
            </a:extLst>
          </p:cNvPr>
          <p:cNvSpPr txBox="1"/>
          <p:nvPr/>
        </p:nvSpPr>
        <p:spPr>
          <a:xfrm>
            <a:off x="7576457" y="955251"/>
            <a:ext cx="4615543" cy="45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600" b="1" dirty="0"/>
              <a:t>How Tumours Resist Therapy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E33533-7EA6-D84A-8C1C-701FAA48B73F}"/>
              </a:ext>
            </a:extLst>
          </p:cNvPr>
          <p:cNvSpPr txBox="1"/>
          <p:nvPr/>
        </p:nvSpPr>
        <p:spPr>
          <a:xfrm>
            <a:off x="704187" y="6155634"/>
            <a:ext cx="2828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Source: 7</a:t>
            </a:r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772302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7EA7F7C-98C5-D157-0B60-EAAFD647B588}"/>
              </a:ext>
            </a:extLst>
          </p:cNvPr>
          <p:cNvSpPr txBox="1"/>
          <p:nvPr/>
        </p:nvSpPr>
        <p:spPr>
          <a:xfrm>
            <a:off x="8199390" y="1024393"/>
            <a:ext cx="3434180" cy="14152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b="1" dirty="0">
                <a:latin typeface="+mj-lt"/>
                <a:ea typeface="+mj-ea"/>
                <a:cs typeface="+mj-cs"/>
              </a:rPr>
              <a:t>Tumour Microenvironment: The Neighbourhood</a:t>
            </a:r>
          </a:p>
        </p:txBody>
      </p:sp>
      <p:pic>
        <p:nvPicPr>
          <p:cNvPr id="9" name="Picture 8" descr="A diagram of a cell&#10;&#10;AI-generated content may be incorrect.">
            <a:extLst>
              <a:ext uri="{FF2B5EF4-FFF2-40B4-BE49-F238E27FC236}">
                <a16:creationId xmlns:a16="http://schemas.microsoft.com/office/drawing/2014/main" id="{6C6D4489-1CFB-6CBB-AD07-52AD556869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" r="3" b="3"/>
          <a:stretch>
            <a:fillRect/>
          </a:stretch>
        </p:blipFill>
        <p:spPr>
          <a:xfrm>
            <a:off x="-9886" y="10"/>
            <a:ext cx="7572605" cy="685799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6CCEED4-401D-4B16-40BD-9E7687820118}"/>
              </a:ext>
            </a:extLst>
          </p:cNvPr>
          <p:cNvSpPr txBox="1"/>
          <p:nvPr/>
        </p:nvSpPr>
        <p:spPr>
          <a:xfrm>
            <a:off x="8199390" y="2594019"/>
            <a:ext cx="3434180" cy="3778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700" dirty="0"/>
              <a:t>Tumours don’t grow alone – they live in a neighbourhood of immune and stromal cells.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700" dirty="0"/>
              <a:t>scRNA-seq shows:</a:t>
            </a:r>
          </a:p>
          <a:p>
            <a:pPr marL="800100" lvl="1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Exhausted immune cells</a:t>
            </a:r>
          </a:p>
          <a:p>
            <a:pPr marL="800100" lvl="1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Supportive fibroblasts</a:t>
            </a:r>
          </a:p>
          <a:p>
            <a:pPr marL="800100" lvl="1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Molecular conversations (ligand-receptor interactions)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700" b="1" dirty="0"/>
              <a:t>Cancer evolves together</a:t>
            </a:r>
            <a:r>
              <a:rPr lang="en-US" sz="1700" dirty="0"/>
              <a:t>, not in isolation </a:t>
            </a:r>
            <a:r>
              <a:rPr lang="en-US" sz="1700" b="1" dirty="0"/>
              <a:t>[8]</a:t>
            </a:r>
            <a:r>
              <a:rPr lang="en-US" sz="17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3BAD2B-6C71-5770-0FF3-DC26A9E3AC1A}"/>
              </a:ext>
            </a:extLst>
          </p:cNvPr>
          <p:cNvSpPr txBox="1"/>
          <p:nvPr/>
        </p:nvSpPr>
        <p:spPr>
          <a:xfrm>
            <a:off x="6775962" y="6468616"/>
            <a:ext cx="1791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Source: 1</a:t>
            </a:r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522650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165109B-7036-4613-93D4-579E77F6E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63886A-764A-F9FF-4F76-159315252EB7}"/>
              </a:ext>
            </a:extLst>
          </p:cNvPr>
          <p:cNvSpPr txBox="1"/>
          <p:nvPr/>
        </p:nvSpPr>
        <p:spPr>
          <a:xfrm>
            <a:off x="761802" y="858982"/>
            <a:ext cx="3160341" cy="51529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This Matters &amp; What’s Next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3E8FEA2-54EE-4F84-B5DB-A055A7D80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36707" y="0"/>
            <a:ext cx="7455294" cy="6858000"/>
          </a:xfrm>
          <a:prstGeom prst="rect">
            <a:avLst/>
          </a:prstGeom>
          <a:ln>
            <a:noFill/>
          </a:ln>
          <a:effectLst>
            <a:outerShdw blurRad="317500" dist="228600" dir="798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EC8F2683-AD3F-39E6-C46F-1E00E8315D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4066439"/>
              </p:ext>
            </p:extLst>
          </p:nvPr>
        </p:nvGraphicFramePr>
        <p:xfrm>
          <a:off x="5368169" y="601324"/>
          <a:ext cx="5849557" cy="5618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0083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5A0745-7921-47A5-35B4-B7A0E9A916CC}"/>
              </a:ext>
            </a:extLst>
          </p:cNvPr>
          <p:cNvSpPr txBox="1"/>
          <p:nvPr/>
        </p:nvSpPr>
        <p:spPr>
          <a:xfrm>
            <a:off x="4069773" y="0"/>
            <a:ext cx="40524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4A6077-5B45-8712-C6CA-4EEA380D8598}"/>
              </a:ext>
            </a:extLst>
          </p:cNvPr>
          <p:cNvSpPr txBox="1"/>
          <p:nvPr/>
        </p:nvSpPr>
        <p:spPr>
          <a:xfrm>
            <a:off x="633846" y="477982"/>
            <a:ext cx="113157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Allemailem, K.S., Alsahli, M.A.,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Almatroudi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Faris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Alrumaihi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Waleed Al Abdulmonem, Moawad, A.A.,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Alwanian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W.M., Nahlah Makki Almansour, Arshad Husain Rahmani and Amjad Ali Khan (2023). Innovative Strategies of Reprogramming Immune System Cells by Targeting CRISPR/Cas9-Based Genome-Editing Tools: A New Era of Cancer Management. International Journal of Nanomedicine, Volume 18, pp.5531–5559.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://doi.org/10.2147/ijn.s424872.</a:t>
            </a:r>
          </a:p>
          <a:p>
            <a:pPr marL="228600" indent="-2286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Alessandro Ottaiano, Ianniello, M.,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Mariachiara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Santorsola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Ruggiero, R., Sirica, R., Sabbatino, F., Perri, F., Cascella, M., Massimiliano Di Marzo, Berretta, M.,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Caraglia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Nasti, G. and Savarese, G. (2023). From Chaos to Opportunity: Decoding Cancer Heterogeneity for Enhanced Treatment Strategies. Biology, 12(9), pp.1183–1183.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://doi.org/10.3390/biology12091183.</a:t>
            </a:r>
          </a:p>
          <a:p>
            <a:pPr marL="342900" indent="-3429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Bridges, K. and Miller-Jensen, K. (2022). Mapping and Validation of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scRNA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-Derived Cell-Cell Communication Networks in the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Microenvironment. Frontiers in Immunology, 13.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://doi.org/10.3389/fimmu.2022.885267.</a:t>
            </a:r>
          </a:p>
          <a:p>
            <a:pPr marL="228600" indent="-2286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Caligola, S., Francesco De Sanctis,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Canè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and Stefano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Ugel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(2022). Breaking the Immune Complexity of the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Microenvironment Using Single-Cell Technologies. Frontiers in Genetics, 13.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://doi.org/10.3389/fgene.2022.867880.</a:t>
            </a:r>
          </a:p>
          <a:p>
            <a:pPr marL="228600" indent="-2286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Chen, X. and Song, E. (2022). The theory of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ecosystem. Cancer communications, [online] 42(7), pp.587–608.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://doi.org/10.1002/cac2.12316.</a:t>
            </a:r>
          </a:p>
          <a:p>
            <a:pPr marL="342900" indent="-3429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Colonna, G. (2025). Overcoming Barriers in Cancer Biology Research: Current Limitations and Solutions. Cancers, [online] 17(13), pp.2102–2102.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://doi.org/10.3390/cancers17132102.</a:t>
            </a:r>
          </a:p>
          <a:p>
            <a:pPr marL="228600" indent="-2286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Dagogo-Jack, I. and Shaw, A.T. (2018). Tumour heterogeneity and resistance to cancer therapies. Nature Reviews Clinical Oncology, [online] 15(2), pp.81–94.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://doi.org/10.1038/nrclinonc.2017.166.</a:t>
            </a:r>
          </a:p>
          <a:p>
            <a:pPr marL="228600" indent="-2286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Visser, K.E. and Joyce, J.A. (2023). The evolving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microenvironment: From cancer initiation to metastatic outgrowth. Cancer Cell, [online] 41(3), pp.374–403.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://doi.org/10.1016/j.ccell.2023.02.016.</a:t>
            </a:r>
          </a:p>
          <a:p>
            <a:pPr marL="228600" indent="-2286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Nikolaou, S. and Machesky, L.M. (2020). The stressful tumour environment drives plasticity of cell migration programmes, contributing to metastasis. The Journal of Pathology, 250(5), pp.612–623.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://doi.org/10.1002/path.5395.</a:t>
            </a:r>
          </a:p>
          <a:p>
            <a:pPr marL="228600" indent="-2286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Phei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 Saw, Liu, Q., Wong, P.-P. and Song, E. (2024). Cancer stem cell mimicry for immune evasion and therapeutic resistance. Cell stem cell, [online] 31(8).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://doi.org/10.1016/j.stem.2024.06.003.</a:t>
            </a:r>
          </a:p>
          <a:p>
            <a:pPr marL="342900" indent="-3429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 Y., Liu, L., Zhang, X., Liang, T. and Bai, X. (2025). Cancer dormancy and metabolism: From molecular insights to translational opportunities. Cancer Letters, [online] 635, p.218097.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://doi.org/10.1016/j.canlet.2025.218097.</a:t>
            </a:r>
          </a:p>
          <a:p>
            <a:pPr marL="228600" indent="-2286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WikiMedia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Commons (2017). File:</a:t>
            </a:r>
            <a:r>
              <a:rPr lang="he-I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צילום מסך 2017.07.14 ב.21.42.55.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png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Wikimedia Commons. [online] Wikimedia.org. Available at: https://commons.wikimedia.org/wiki/File:%D7%A6%D7%99%D7%9C%D7%95%D7%9D_%D7%9E%D7%A1%D7%9A_2017.07.14_%D7%91.21.42.55.png [Accessed 1 Nov. 2025].</a:t>
            </a:r>
          </a:p>
          <a:p>
            <a:pPr marL="342900" indent="-3429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091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1010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Chioma Nnadi</dc:creator>
  <cp:lastModifiedBy>Chioma Nnadi</cp:lastModifiedBy>
  <cp:revision>10</cp:revision>
  <dcterms:created xsi:type="dcterms:W3CDTF">2025-11-01T20:21:07Z</dcterms:created>
  <dcterms:modified xsi:type="dcterms:W3CDTF">2025-12-11T05:13:55Z</dcterms:modified>
</cp:coreProperties>
</file>