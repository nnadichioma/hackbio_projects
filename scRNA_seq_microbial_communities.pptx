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9" r:id="rId2"/>
    <p:sldId id="264" r:id="rId3"/>
    <p:sldId id="265" r:id="rId4"/>
    <p:sldId id="267" r:id="rId5"/>
    <p:sldId id="268" r:id="rId6"/>
    <p:sldId id="27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7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D26F492-9167-494B-9162-E96467DBFF8A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085379F-8A83-47A1-BDD0-8E788E5F2C07}">
      <dgm:prSet/>
      <dgm:spPr/>
      <dgm:t>
        <a:bodyPr/>
        <a:lstStyle/>
        <a:p>
          <a:pPr>
            <a:defRPr cap="all"/>
          </a:pPr>
          <a:r>
            <a:rPr lang="en-GB"/>
            <a:t>Incomplete genome references limit transcript mapping.</a:t>
          </a:r>
          <a:endParaRPr lang="en-US"/>
        </a:p>
      </dgm:t>
    </dgm:pt>
    <dgm:pt modelId="{5E3D6F06-B010-4E5C-A550-94E6D96D2528}" type="parTrans" cxnId="{5CBFDFF8-5630-4191-A92E-DAA5F00F9E28}">
      <dgm:prSet/>
      <dgm:spPr/>
      <dgm:t>
        <a:bodyPr/>
        <a:lstStyle/>
        <a:p>
          <a:endParaRPr lang="en-US"/>
        </a:p>
      </dgm:t>
    </dgm:pt>
    <dgm:pt modelId="{189182C3-9800-468D-AD59-15D2C8B66D33}" type="sibTrans" cxnId="{5CBFDFF8-5630-4191-A92E-DAA5F00F9E28}">
      <dgm:prSet/>
      <dgm:spPr/>
      <dgm:t>
        <a:bodyPr/>
        <a:lstStyle/>
        <a:p>
          <a:endParaRPr lang="en-US"/>
        </a:p>
      </dgm:t>
    </dgm:pt>
    <dgm:pt modelId="{B8DCBA0F-AAC4-49A2-9F0B-5F53EC7FEB9B}">
      <dgm:prSet/>
      <dgm:spPr/>
      <dgm:t>
        <a:bodyPr/>
        <a:lstStyle/>
        <a:p>
          <a:pPr>
            <a:defRPr cap="all"/>
          </a:pPr>
          <a:r>
            <a:rPr lang="en-GB"/>
            <a:t>Sparse data and dropout events complicate analysis.</a:t>
          </a:r>
          <a:endParaRPr lang="en-US"/>
        </a:p>
      </dgm:t>
    </dgm:pt>
    <dgm:pt modelId="{952A8814-B099-41AC-8F43-0CE32BD62EF2}" type="parTrans" cxnId="{05B447B0-0AF3-456E-8ACA-CE0AE2396235}">
      <dgm:prSet/>
      <dgm:spPr/>
      <dgm:t>
        <a:bodyPr/>
        <a:lstStyle/>
        <a:p>
          <a:endParaRPr lang="en-US"/>
        </a:p>
      </dgm:t>
    </dgm:pt>
    <dgm:pt modelId="{F7B67CA9-3127-454E-8A24-78977383EE7E}" type="sibTrans" cxnId="{05B447B0-0AF3-456E-8ACA-CE0AE2396235}">
      <dgm:prSet/>
      <dgm:spPr/>
      <dgm:t>
        <a:bodyPr/>
        <a:lstStyle/>
        <a:p>
          <a:endParaRPr lang="en-US"/>
        </a:p>
      </dgm:t>
    </dgm:pt>
    <dgm:pt modelId="{648DD7F6-E5C3-499A-A0F9-7B6D8D63AA84}">
      <dgm:prSet/>
      <dgm:spPr/>
      <dgm:t>
        <a:bodyPr/>
        <a:lstStyle/>
        <a:p>
          <a:pPr>
            <a:defRPr cap="all"/>
          </a:pPr>
          <a:r>
            <a:rPr lang="en-GB"/>
            <a:t>Limited integration with spatial, genetic, or metabolic data.</a:t>
          </a:r>
          <a:endParaRPr lang="en-US"/>
        </a:p>
      </dgm:t>
    </dgm:pt>
    <dgm:pt modelId="{01AAEC57-1003-4BA5-B81C-D92AFCDC02F2}" type="parTrans" cxnId="{E42C414C-33AF-477B-9237-BF07E0DC32EB}">
      <dgm:prSet/>
      <dgm:spPr/>
      <dgm:t>
        <a:bodyPr/>
        <a:lstStyle/>
        <a:p>
          <a:endParaRPr lang="en-US"/>
        </a:p>
      </dgm:t>
    </dgm:pt>
    <dgm:pt modelId="{E4A27202-BB1D-4395-90A5-557EF8D38877}" type="sibTrans" cxnId="{E42C414C-33AF-477B-9237-BF07E0DC32EB}">
      <dgm:prSet/>
      <dgm:spPr/>
      <dgm:t>
        <a:bodyPr/>
        <a:lstStyle/>
        <a:p>
          <a:endParaRPr lang="en-US"/>
        </a:p>
      </dgm:t>
    </dgm:pt>
    <dgm:pt modelId="{20490431-FCD8-428F-8485-20B21830F7D1}">
      <dgm:prSet/>
      <dgm:spPr/>
      <dgm:t>
        <a:bodyPr/>
        <a:lstStyle/>
        <a:p>
          <a:pPr>
            <a:defRPr cap="all"/>
          </a:pPr>
          <a:r>
            <a:rPr lang="en-GB"/>
            <a:t>Lack of standardized sample preparation across microbial communities.</a:t>
          </a:r>
          <a:endParaRPr lang="en-US"/>
        </a:p>
      </dgm:t>
    </dgm:pt>
    <dgm:pt modelId="{E03E3775-19C7-42C9-8F14-67C07A459DFC}" type="parTrans" cxnId="{6D4764A1-FB36-4352-8D60-4BB6F094F773}">
      <dgm:prSet/>
      <dgm:spPr/>
      <dgm:t>
        <a:bodyPr/>
        <a:lstStyle/>
        <a:p>
          <a:endParaRPr lang="en-US"/>
        </a:p>
      </dgm:t>
    </dgm:pt>
    <dgm:pt modelId="{E05AE230-C620-4EAB-8F15-60E4D9891088}" type="sibTrans" cxnId="{6D4764A1-FB36-4352-8D60-4BB6F094F773}">
      <dgm:prSet/>
      <dgm:spPr/>
      <dgm:t>
        <a:bodyPr/>
        <a:lstStyle/>
        <a:p>
          <a:endParaRPr lang="en-US"/>
        </a:p>
      </dgm:t>
    </dgm:pt>
    <dgm:pt modelId="{66C58128-5075-479C-9398-6D3A559DDF4A}">
      <dgm:prSet/>
      <dgm:spPr/>
      <dgm:t>
        <a:bodyPr/>
        <a:lstStyle/>
        <a:p>
          <a:pPr>
            <a:defRPr cap="all"/>
          </a:pPr>
          <a:r>
            <a:rPr lang="en-GB"/>
            <a:t>Current methods face </a:t>
          </a:r>
          <a:r>
            <a:rPr lang="en-GB" b="1"/>
            <a:t>scalability and reproducibility</a:t>
          </a:r>
          <a:r>
            <a:rPr lang="en-GB"/>
            <a:t> issues.</a:t>
          </a:r>
          <a:endParaRPr lang="en-US"/>
        </a:p>
      </dgm:t>
    </dgm:pt>
    <dgm:pt modelId="{FA5D3BFC-E97A-4CDE-ABA3-B223E6987D6E}" type="parTrans" cxnId="{641AB784-3D08-4475-A694-A9147438CCA2}">
      <dgm:prSet/>
      <dgm:spPr/>
      <dgm:t>
        <a:bodyPr/>
        <a:lstStyle/>
        <a:p>
          <a:endParaRPr lang="en-US"/>
        </a:p>
      </dgm:t>
    </dgm:pt>
    <dgm:pt modelId="{A0D4917B-EE2B-48A7-9603-CBC6E7168685}" type="sibTrans" cxnId="{641AB784-3D08-4475-A694-A9147438CCA2}">
      <dgm:prSet/>
      <dgm:spPr/>
      <dgm:t>
        <a:bodyPr/>
        <a:lstStyle/>
        <a:p>
          <a:endParaRPr lang="en-US"/>
        </a:p>
      </dgm:t>
    </dgm:pt>
    <dgm:pt modelId="{5FF58AB1-6EE1-4436-8BDD-A77F0F6517FB}" type="pres">
      <dgm:prSet presAssocID="{4D26F492-9167-494B-9162-E96467DBFF8A}" presName="root" presStyleCnt="0">
        <dgm:presLayoutVars>
          <dgm:dir/>
          <dgm:resizeHandles val="exact"/>
        </dgm:presLayoutVars>
      </dgm:prSet>
      <dgm:spPr/>
    </dgm:pt>
    <dgm:pt modelId="{E8EA6937-8A1F-40E2-B043-A04E86F3E3D5}" type="pres">
      <dgm:prSet presAssocID="{B085379F-8A83-47A1-BDD0-8E788E5F2C07}" presName="compNode" presStyleCnt="0"/>
      <dgm:spPr/>
    </dgm:pt>
    <dgm:pt modelId="{A2CBB3B5-A171-41FC-B5B5-31A95B2F38EF}" type="pres">
      <dgm:prSet presAssocID="{B085379F-8A83-47A1-BDD0-8E788E5F2C07}" presName="iconBgRect" presStyleLbl="bgShp" presStyleIdx="0" presStyleCnt="5"/>
      <dgm:spPr/>
    </dgm:pt>
    <dgm:pt modelId="{FA9E7AEA-C479-42EF-A13D-4F3087B60BA4}" type="pres">
      <dgm:prSet presAssocID="{B085379F-8A83-47A1-BDD0-8E788E5F2C0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09757925-84BD-4B80-B1B5-6A96F3F54817}" type="pres">
      <dgm:prSet presAssocID="{B085379F-8A83-47A1-BDD0-8E788E5F2C07}" presName="spaceRect" presStyleCnt="0"/>
      <dgm:spPr/>
    </dgm:pt>
    <dgm:pt modelId="{C2F5F303-07D1-43E2-96AD-79D9F281BDB5}" type="pres">
      <dgm:prSet presAssocID="{B085379F-8A83-47A1-BDD0-8E788E5F2C07}" presName="textRect" presStyleLbl="revTx" presStyleIdx="0" presStyleCnt="5">
        <dgm:presLayoutVars>
          <dgm:chMax val="1"/>
          <dgm:chPref val="1"/>
        </dgm:presLayoutVars>
      </dgm:prSet>
      <dgm:spPr/>
    </dgm:pt>
    <dgm:pt modelId="{12915364-A0AA-4BB1-9982-472B4EA1F715}" type="pres">
      <dgm:prSet presAssocID="{189182C3-9800-468D-AD59-15D2C8B66D33}" presName="sibTrans" presStyleCnt="0"/>
      <dgm:spPr/>
    </dgm:pt>
    <dgm:pt modelId="{9A1753E3-7A8A-4426-84DB-38BCA1428A52}" type="pres">
      <dgm:prSet presAssocID="{B8DCBA0F-AAC4-49A2-9F0B-5F53EC7FEB9B}" presName="compNode" presStyleCnt="0"/>
      <dgm:spPr/>
    </dgm:pt>
    <dgm:pt modelId="{6AECEEF8-58FB-4F6B-9732-0ECA529BD2A0}" type="pres">
      <dgm:prSet presAssocID="{B8DCBA0F-AAC4-49A2-9F0B-5F53EC7FEB9B}" presName="iconBgRect" presStyleLbl="bgShp" presStyleIdx="1" presStyleCnt="5"/>
      <dgm:spPr/>
    </dgm:pt>
    <dgm:pt modelId="{0873468F-F947-40F2-9B4B-F539159580EC}" type="pres">
      <dgm:prSet presAssocID="{B8DCBA0F-AAC4-49A2-9F0B-5F53EC7FEB9B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C034FDB8-4FDA-4739-8892-30A0CE9A9D2A}" type="pres">
      <dgm:prSet presAssocID="{B8DCBA0F-AAC4-49A2-9F0B-5F53EC7FEB9B}" presName="spaceRect" presStyleCnt="0"/>
      <dgm:spPr/>
    </dgm:pt>
    <dgm:pt modelId="{1C4FC9CF-962E-4C24-BF15-A98E9289BFB3}" type="pres">
      <dgm:prSet presAssocID="{B8DCBA0F-AAC4-49A2-9F0B-5F53EC7FEB9B}" presName="textRect" presStyleLbl="revTx" presStyleIdx="1" presStyleCnt="5">
        <dgm:presLayoutVars>
          <dgm:chMax val="1"/>
          <dgm:chPref val="1"/>
        </dgm:presLayoutVars>
      </dgm:prSet>
      <dgm:spPr/>
    </dgm:pt>
    <dgm:pt modelId="{390DAB3B-BA58-4D4E-A24A-94BCB31757C5}" type="pres">
      <dgm:prSet presAssocID="{F7B67CA9-3127-454E-8A24-78977383EE7E}" presName="sibTrans" presStyleCnt="0"/>
      <dgm:spPr/>
    </dgm:pt>
    <dgm:pt modelId="{218450B4-6CA8-46AF-88E8-8A385E629452}" type="pres">
      <dgm:prSet presAssocID="{648DD7F6-E5C3-499A-A0F9-7B6D8D63AA84}" presName="compNode" presStyleCnt="0"/>
      <dgm:spPr/>
    </dgm:pt>
    <dgm:pt modelId="{26155226-09F9-4CB3-AE42-FD259247FCAE}" type="pres">
      <dgm:prSet presAssocID="{648DD7F6-E5C3-499A-A0F9-7B6D8D63AA84}" presName="iconBgRect" presStyleLbl="bgShp" presStyleIdx="2" presStyleCnt="5"/>
      <dgm:spPr/>
    </dgm:pt>
    <dgm:pt modelId="{5AB9FD1C-77E4-4DA3-9F80-A41D2B8F851C}" type="pres">
      <dgm:prSet presAssocID="{648DD7F6-E5C3-499A-A0F9-7B6D8D63AA84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nger Print"/>
        </a:ext>
      </dgm:extLst>
    </dgm:pt>
    <dgm:pt modelId="{35BE1281-C2B6-4B70-AD42-E08BDE0FEC7E}" type="pres">
      <dgm:prSet presAssocID="{648DD7F6-E5C3-499A-A0F9-7B6D8D63AA84}" presName="spaceRect" presStyleCnt="0"/>
      <dgm:spPr/>
    </dgm:pt>
    <dgm:pt modelId="{D4DF9F93-6A0E-4E71-A8A6-B914EDB6D607}" type="pres">
      <dgm:prSet presAssocID="{648DD7F6-E5C3-499A-A0F9-7B6D8D63AA84}" presName="textRect" presStyleLbl="revTx" presStyleIdx="2" presStyleCnt="5">
        <dgm:presLayoutVars>
          <dgm:chMax val="1"/>
          <dgm:chPref val="1"/>
        </dgm:presLayoutVars>
      </dgm:prSet>
      <dgm:spPr/>
    </dgm:pt>
    <dgm:pt modelId="{791E4359-5927-4E7A-A805-14ED4F8BB348}" type="pres">
      <dgm:prSet presAssocID="{E4A27202-BB1D-4395-90A5-557EF8D38877}" presName="sibTrans" presStyleCnt="0"/>
      <dgm:spPr/>
    </dgm:pt>
    <dgm:pt modelId="{883BB172-B8A8-4658-9CE9-4BEB86B0BB30}" type="pres">
      <dgm:prSet presAssocID="{20490431-FCD8-428F-8485-20B21830F7D1}" presName="compNode" presStyleCnt="0"/>
      <dgm:spPr/>
    </dgm:pt>
    <dgm:pt modelId="{D47D6336-AFEC-4A42-B528-F64F80A5BA61}" type="pres">
      <dgm:prSet presAssocID="{20490431-FCD8-428F-8485-20B21830F7D1}" presName="iconBgRect" presStyleLbl="bgShp" presStyleIdx="3" presStyleCnt="5"/>
      <dgm:spPr/>
    </dgm:pt>
    <dgm:pt modelId="{3C8E8031-1500-4E87-8F1C-05AAC92D5085}" type="pres">
      <dgm:prSet presAssocID="{20490431-FCD8-428F-8485-20B21830F7D1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croscope"/>
        </a:ext>
      </dgm:extLst>
    </dgm:pt>
    <dgm:pt modelId="{5715B74B-B6D5-4CD1-A656-52A0D23DE826}" type="pres">
      <dgm:prSet presAssocID="{20490431-FCD8-428F-8485-20B21830F7D1}" presName="spaceRect" presStyleCnt="0"/>
      <dgm:spPr/>
    </dgm:pt>
    <dgm:pt modelId="{3D5A625B-8548-47DA-937C-38764A965ED7}" type="pres">
      <dgm:prSet presAssocID="{20490431-FCD8-428F-8485-20B21830F7D1}" presName="textRect" presStyleLbl="revTx" presStyleIdx="3" presStyleCnt="5">
        <dgm:presLayoutVars>
          <dgm:chMax val="1"/>
          <dgm:chPref val="1"/>
        </dgm:presLayoutVars>
      </dgm:prSet>
      <dgm:spPr/>
    </dgm:pt>
    <dgm:pt modelId="{1C150DB7-A4EF-45F2-A1EA-59A26C1C239F}" type="pres">
      <dgm:prSet presAssocID="{E05AE230-C620-4EAB-8F15-60E4D9891088}" presName="sibTrans" presStyleCnt="0"/>
      <dgm:spPr/>
    </dgm:pt>
    <dgm:pt modelId="{43932CEE-8C7B-47F0-974A-F3C314531DD4}" type="pres">
      <dgm:prSet presAssocID="{66C58128-5075-479C-9398-6D3A559DDF4A}" presName="compNode" presStyleCnt="0"/>
      <dgm:spPr/>
    </dgm:pt>
    <dgm:pt modelId="{BFE060FF-2EFB-4101-87C1-668AB345F991}" type="pres">
      <dgm:prSet presAssocID="{66C58128-5075-479C-9398-6D3A559DDF4A}" presName="iconBgRect" presStyleLbl="bgShp" presStyleIdx="4" presStyleCnt="5"/>
      <dgm:spPr/>
    </dgm:pt>
    <dgm:pt modelId="{F29C9E56-2D26-4591-BA1C-35E12BB3E9AC}" type="pres">
      <dgm:prSet presAssocID="{66C58128-5075-479C-9398-6D3A559DDF4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BDDF5AD-13ED-419C-BF43-26B02D62A745}" type="pres">
      <dgm:prSet presAssocID="{66C58128-5075-479C-9398-6D3A559DDF4A}" presName="spaceRect" presStyleCnt="0"/>
      <dgm:spPr/>
    </dgm:pt>
    <dgm:pt modelId="{1975A762-08D0-4C4B-B230-4030ADE35AD1}" type="pres">
      <dgm:prSet presAssocID="{66C58128-5075-479C-9398-6D3A559DDF4A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7404A704-E8B9-4255-93C8-79A8C613B82E}" type="presOf" srcId="{B8DCBA0F-AAC4-49A2-9F0B-5F53EC7FEB9B}" destId="{1C4FC9CF-962E-4C24-BF15-A98E9289BFB3}" srcOrd="0" destOrd="0" presId="urn:microsoft.com/office/officeart/2018/5/layout/IconCircleLabelList"/>
    <dgm:cxn modelId="{39654E19-33AB-4411-BC66-462FEF90AFBC}" type="presOf" srcId="{20490431-FCD8-428F-8485-20B21830F7D1}" destId="{3D5A625B-8548-47DA-937C-38764A965ED7}" srcOrd="0" destOrd="0" presId="urn:microsoft.com/office/officeart/2018/5/layout/IconCircleLabelList"/>
    <dgm:cxn modelId="{E42C414C-33AF-477B-9237-BF07E0DC32EB}" srcId="{4D26F492-9167-494B-9162-E96467DBFF8A}" destId="{648DD7F6-E5C3-499A-A0F9-7B6D8D63AA84}" srcOrd="2" destOrd="0" parTransId="{01AAEC57-1003-4BA5-B81C-D92AFCDC02F2}" sibTransId="{E4A27202-BB1D-4395-90A5-557EF8D38877}"/>
    <dgm:cxn modelId="{641AB784-3D08-4475-A694-A9147438CCA2}" srcId="{4D26F492-9167-494B-9162-E96467DBFF8A}" destId="{66C58128-5075-479C-9398-6D3A559DDF4A}" srcOrd="4" destOrd="0" parTransId="{FA5D3BFC-E97A-4CDE-ABA3-B223E6987D6E}" sibTransId="{A0D4917B-EE2B-48A7-9603-CBC6E7168685}"/>
    <dgm:cxn modelId="{091D1295-9867-46B5-A6A6-F356AAA3D69D}" type="presOf" srcId="{B085379F-8A83-47A1-BDD0-8E788E5F2C07}" destId="{C2F5F303-07D1-43E2-96AD-79D9F281BDB5}" srcOrd="0" destOrd="0" presId="urn:microsoft.com/office/officeart/2018/5/layout/IconCircleLabelList"/>
    <dgm:cxn modelId="{6D4764A1-FB36-4352-8D60-4BB6F094F773}" srcId="{4D26F492-9167-494B-9162-E96467DBFF8A}" destId="{20490431-FCD8-428F-8485-20B21830F7D1}" srcOrd="3" destOrd="0" parTransId="{E03E3775-19C7-42C9-8F14-67C07A459DFC}" sibTransId="{E05AE230-C620-4EAB-8F15-60E4D9891088}"/>
    <dgm:cxn modelId="{05B447B0-0AF3-456E-8ACA-CE0AE2396235}" srcId="{4D26F492-9167-494B-9162-E96467DBFF8A}" destId="{B8DCBA0F-AAC4-49A2-9F0B-5F53EC7FEB9B}" srcOrd="1" destOrd="0" parTransId="{952A8814-B099-41AC-8F43-0CE32BD62EF2}" sibTransId="{F7B67CA9-3127-454E-8A24-78977383EE7E}"/>
    <dgm:cxn modelId="{0E805DD2-6DC7-4BBD-B69D-70C9289DD0C0}" type="presOf" srcId="{66C58128-5075-479C-9398-6D3A559DDF4A}" destId="{1975A762-08D0-4C4B-B230-4030ADE35AD1}" srcOrd="0" destOrd="0" presId="urn:microsoft.com/office/officeart/2018/5/layout/IconCircleLabelList"/>
    <dgm:cxn modelId="{C1E3DCDC-88E9-4FF9-B949-B8972EFC78E3}" type="presOf" srcId="{648DD7F6-E5C3-499A-A0F9-7B6D8D63AA84}" destId="{D4DF9F93-6A0E-4E71-A8A6-B914EDB6D607}" srcOrd="0" destOrd="0" presId="urn:microsoft.com/office/officeart/2018/5/layout/IconCircleLabelList"/>
    <dgm:cxn modelId="{A4D23EE6-8E12-49C8-8294-55DB19400126}" type="presOf" srcId="{4D26F492-9167-494B-9162-E96467DBFF8A}" destId="{5FF58AB1-6EE1-4436-8BDD-A77F0F6517FB}" srcOrd="0" destOrd="0" presId="urn:microsoft.com/office/officeart/2018/5/layout/IconCircleLabelList"/>
    <dgm:cxn modelId="{5CBFDFF8-5630-4191-A92E-DAA5F00F9E28}" srcId="{4D26F492-9167-494B-9162-E96467DBFF8A}" destId="{B085379F-8A83-47A1-BDD0-8E788E5F2C07}" srcOrd="0" destOrd="0" parTransId="{5E3D6F06-B010-4E5C-A550-94E6D96D2528}" sibTransId="{189182C3-9800-468D-AD59-15D2C8B66D33}"/>
    <dgm:cxn modelId="{519D0786-CAF0-4465-AD9B-11EE750A664A}" type="presParOf" srcId="{5FF58AB1-6EE1-4436-8BDD-A77F0F6517FB}" destId="{E8EA6937-8A1F-40E2-B043-A04E86F3E3D5}" srcOrd="0" destOrd="0" presId="urn:microsoft.com/office/officeart/2018/5/layout/IconCircleLabelList"/>
    <dgm:cxn modelId="{F938C546-98A5-4F14-8480-56FF5B144A9E}" type="presParOf" srcId="{E8EA6937-8A1F-40E2-B043-A04E86F3E3D5}" destId="{A2CBB3B5-A171-41FC-B5B5-31A95B2F38EF}" srcOrd="0" destOrd="0" presId="urn:microsoft.com/office/officeart/2018/5/layout/IconCircleLabelList"/>
    <dgm:cxn modelId="{4EC1BE46-E3C3-4870-8B0A-25AD60D55D01}" type="presParOf" srcId="{E8EA6937-8A1F-40E2-B043-A04E86F3E3D5}" destId="{FA9E7AEA-C479-42EF-A13D-4F3087B60BA4}" srcOrd="1" destOrd="0" presId="urn:microsoft.com/office/officeart/2018/5/layout/IconCircleLabelList"/>
    <dgm:cxn modelId="{983A26BD-0587-4B6A-B9C3-522D90637AB1}" type="presParOf" srcId="{E8EA6937-8A1F-40E2-B043-A04E86F3E3D5}" destId="{09757925-84BD-4B80-B1B5-6A96F3F54817}" srcOrd="2" destOrd="0" presId="urn:microsoft.com/office/officeart/2018/5/layout/IconCircleLabelList"/>
    <dgm:cxn modelId="{88C154F2-0082-41B0-ADD1-A74CBCF883F9}" type="presParOf" srcId="{E8EA6937-8A1F-40E2-B043-A04E86F3E3D5}" destId="{C2F5F303-07D1-43E2-96AD-79D9F281BDB5}" srcOrd="3" destOrd="0" presId="urn:microsoft.com/office/officeart/2018/5/layout/IconCircleLabelList"/>
    <dgm:cxn modelId="{E6F72531-BBCF-4CF1-A05E-80C3FE83854F}" type="presParOf" srcId="{5FF58AB1-6EE1-4436-8BDD-A77F0F6517FB}" destId="{12915364-A0AA-4BB1-9982-472B4EA1F715}" srcOrd="1" destOrd="0" presId="urn:microsoft.com/office/officeart/2018/5/layout/IconCircleLabelList"/>
    <dgm:cxn modelId="{CBE4216C-FE04-4376-88AD-3008434E286F}" type="presParOf" srcId="{5FF58AB1-6EE1-4436-8BDD-A77F0F6517FB}" destId="{9A1753E3-7A8A-4426-84DB-38BCA1428A52}" srcOrd="2" destOrd="0" presId="urn:microsoft.com/office/officeart/2018/5/layout/IconCircleLabelList"/>
    <dgm:cxn modelId="{317E0808-55B0-4710-AE7E-26E78C52ABA1}" type="presParOf" srcId="{9A1753E3-7A8A-4426-84DB-38BCA1428A52}" destId="{6AECEEF8-58FB-4F6B-9732-0ECA529BD2A0}" srcOrd="0" destOrd="0" presId="urn:microsoft.com/office/officeart/2018/5/layout/IconCircleLabelList"/>
    <dgm:cxn modelId="{B89A67D2-F84F-43C9-AAF6-065669B5A72F}" type="presParOf" srcId="{9A1753E3-7A8A-4426-84DB-38BCA1428A52}" destId="{0873468F-F947-40F2-9B4B-F539159580EC}" srcOrd="1" destOrd="0" presId="urn:microsoft.com/office/officeart/2018/5/layout/IconCircleLabelList"/>
    <dgm:cxn modelId="{A7B86C82-26AF-4CA8-908C-4425AE8CDA54}" type="presParOf" srcId="{9A1753E3-7A8A-4426-84DB-38BCA1428A52}" destId="{C034FDB8-4FDA-4739-8892-30A0CE9A9D2A}" srcOrd="2" destOrd="0" presId="urn:microsoft.com/office/officeart/2018/5/layout/IconCircleLabelList"/>
    <dgm:cxn modelId="{72AE6BBA-330C-4E0D-909A-3902C6E8FE16}" type="presParOf" srcId="{9A1753E3-7A8A-4426-84DB-38BCA1428A52}" destId="{1C4FC9CF-962E-4C24-BF15-A98E9289BFB3}" srcOrd="3" destOrd="0" presId="urn:microsoft.com/office/officeart/2018/5/layout/IconCircleLabelList"/>
    <dgm:cxn modelId="{5AC85120-EC21-49E9-9627-99EF78E4D5AE}" type="presParOf" srcId="{5FF58AB1-6EE1-4436-8BDD-A77F0F6517FB}" destId="{390DAB3B-BA58-4D4E-A24A-94BCB31757C5}" srcOrd="3" destOrd="0" presId="urn:microsoft.com/office/officeart/2018/5/layout/IconCircleLabelList"/>
    <dgm:cxn modelId="{360F5EA6-CD0F-4922-8D85-89B8FCB722D3}" type="presParOf" srcId="{5FF58AB1-6EE1-4436-8BDD-A77F0F6517FB}" destId="{218450B4-6CA8-46AF-88E8-8A385E629452}" srcOrd="4" destOrd="0" presId="urn:microsoft.com/office/officeart/2018/5/layout/IconCircleLabelList"/>
    <dgm:cxn modelId="{C870BB56-7719-494C-9D07-A6D2A6788B83}" type="presParOf" srcId="{218450B4-6CA8-46AF-88E8-8A385E629452}" destId="{26155226-09F9-4CB3-AE42-FD259247FCAE}" srcOrd="0" destOrd="0" presId="urn:microsoft.com/office/officeart/2018/5/layout/IconCircleLabelList"/>
    <dgm:cxn modelId="{17E0D9E3-42FC-4AE9-8D2E-9CED1EB848A8}" type="presParOf" srcId="{218450B4-6CA8-46AF-88E8-8A385E629452}" destId="{5AB9FD1C-77E4-4DA3-9F80-A41D2B8F851C}" srcOrd="1" destOrd="0" presId="urn:microsoft.com/office/officeart/2018/5/layout/IconCircleLabelList"/>
    <dgm:cxn modelId="{BE114BAD-416D-4EE0-90F5-5A76E12B2CD1}" type="presParOf" srcId="{218450B4-6CA8-46AF-88E8-8A385E629452}" destId="{35BE1281-C2B6-4B70-AD42-E08BDE0FEC7E}" srcOrd="2" destOrd="0" presId="urn:microsoft.com/office/officeart/2018/5/layout/IconCircleLabelList"/>
    <dgm:cxn modelId="{FAE23160-EA63-47C1-9982-EBAB2BB29447}" type="presParOf" srcId="{218450B4-6CA8-46AF-88E8-8A385E629452}" destId="{D4DF9F93-6A0E-4E71-A8A6-B914EDB6D607}" srcOrd="3" destOrd="0" presId="urn:microsoft.com/office/officeart/2018/5/layout/IconCircleLabelList"/>
    <dgm:cxn modelId="{685397C8-F7E8-4BBA-9E57-ADB9A61A898B}" type="presParOf" srcId="{5FF58AB1-6EE1-4436-8BDD-A77F0F6517FB}" destId="{791E4359-5927-4E7A-A805-14ED4F8BB348}" srcOrd="5" destOrd="0" presId="urn:microsoft.com/office/officeart/2018/5/layout/IconCircleLabelList"/>
    <dgm:cxn modelId="{A927C8A4-DF90-4251-B2FA-74C096FDA346}" type="presParOf" srcId="{5FF58AB1-6EE1-4436-8BDD-A77F0F6517FB}" destId="{883BB172-B8A8-4658-9CE9-4BEB86B0BB30}" srcOrd="6" destOrd="0" presId="urn:microsoft.com/office/officeart/2018/5/layout/IconCircleLabelList"/>
    <dgm:cxn modelId="{7DD9D505-1BEB-4C1C-BD56-90F7C4BCAFCD}" type="presParOf" srcId="{883BB172-B8A8-4658-9CE9-4BEB86B0BB30}" destId="{D47D6336-AFEC-4A42-B528-F64F80A5BA61}" srcOrd="0" destOrd="0" presId="urn:microsoft.com/office/officeart/2018/5/layout/IconCircleLabelList"/>
    <dgm:cxn modelId="{9B3017CD-D968-4D4D-889C-704CE37FB9C1}" type="presParOf" srcId="{883BB172-B8A8-4658-9CE9-4BEB86B0BB30}" destId="{3C8E8031-1500-4E87-8F1C-05AAC92D5085}" srcOrd="1" destOrd="0" presId="urn:microsoft.com/office/officeart/2018/5/layout/IconCircleLabelList"/>
    <dgm:cxn modelId="{4D6267C2-954A-40E7-8617-CFA293CA5844}" type="presParOf" srcId="{883BB172-B8A8-4658-9CE9-4BEB86B0BB30}" destId="{5715B74B-B6D5-4CD1-A656-52A0D23DE826}" srcOrd="2" destOrd="0" presId="urn:microsoft.com/office/officeart/2018/5/layout/IconCircleLabelList"/>
    <dgm:cxn modelId="{4964D4C7-3C7A-499D-B56B-C27729907873}" type="presParOf" srcId="{883BB172-B8A8-4658-9CE9-4BEB86B0BB30}" destId="{3D5A625B-8548-47DA-937C-38764A965ED7}" srcOrd="3" destOrd="0" presId="urn:microsoft.com/office/officeart/2018/5/layout/IconCircleLabelList"/>
    <dgm:cxn modelId="{3C84BC28-7C11-41B6-9B25-D7D0F91BF439}" type="presParOf" srcId="{5FF58AB1-6EE1-4436-8BDD-A77F0F6517FB}" destId="{1C150DB7-A4EF-45F2-A1EA-59A26C1C239F}" srcOrd="7" destOrd="0" presId="urn:microsoft.com/office/officeart/2018/5/layout/IconCircleLabelList"/>
    <dgm:cxn modelId="{5AA5C81D-0AA3-4593-8D36-6E14A9A18CF2}" type="presParOf" srcId="{5FF58AB1-6EE1-4436-8BDD-A77F0F6517FB}" destId="{43932CEE-8C7B-47F0-974A-F3C314531DD4}" srcOrd="8" destOrd="0" presId="urn:microsoft.com/office/officeart/2018/5/layout/IconCircleLabelList"/>
    <dgm:cxn modelId="{811EC13E-9864-495B-9D8A-EBDFD3EE79AE}" type="presParOf" srcId="{43932CEE-8C7B-47F0-974A-F3C314531DD4}" destId="{BFE060FF-2EFB-4101-87C1-668AB345F991}" srcOrd="0" destOrd="0" presId="urn:microsoft.com/office/officeart/2018/5/layout/IconCircleLabelList"/>
    <dgm:cxn modelId="{71DE1664-877B-4BE2-9EED-D4A49EDA9656}" type="presParOf" srcId="{43932CEE-8C7B-47F0-974A-F3C314531DD4}" destId="{F29C9E56-2D26-4591-BA1C-35E12BB3E9AC}" srcOrd="1" destOrd="0" presId="urn:microsoft.com/office/officeart/2018/5/layout/IconCircleLabelList"/>
    <dgm:cxn modelId="{5CC70269-6A1D-441B-B6AD-F2776450FA43}" type="presParOf" srcId="{43932CEE-8C7B-47F0-974A-F3C314531DD4}" destId="{EBDDF5AD-13ED-419C-BF43-26B02D62A745}" srcOrd="2" destOrd="0" presId="urn:microsoft.com/office/officeart/2018/5/layout/IconCircleLabelList"/>
    <dgm:cxn modelId="{E59CF25B-0B86-4546-BA69-C9A2C524E9C2}" type="presParOf" srcId="{43932CEE-8C7B-47F0-974A-F3C314531DD4}" destId="{1975A762-08D0-4C4B-B230-4030ADE35AD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CBB3B5-A171-41FC-B5B5-31A95B2F38EF}">
      <dsp:nvSpPr>
        <dsp:cNvPr id="0" name=""/>
        <dsp:cNvSpPr/>
      </dsp:nvSpPr>
      <dsp:spPr>
        <a:xfrm>
          <a:off x="684914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9E7AEA-C479-42EF-A13D-4F3087B60BA4}">
      <dsp:nvSpPr>
        <dsp:cNvPr id="0" name=""/>
        <dsp:cNvSpPr/>
      </dsp:nvSpPr>
      <dsp:spPr>
        <a:xfrm>
          <a:off x="918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F5F303-07D1-43E2-96AD-79D9F281BDB5}">
      <dsp:nvSpPr>
        <dsp:cNvPr id="0" name=""/>
        <dsp:cNvSpPr/>
      </dsp:nvSpPr>
      <dsp:spPr>
        <a:xfrm>
          <a:off x="33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200" kern="1200"/>
            <a:t>Incomplete genome references limit transcript mapping.</a:t>
          </a:r>
          <a:endParaRPr lang="en-US" sz="1200" kern="1200"/>
        </a:p>
      </dsp:txBody>
      <dsp:txXfrm>
        <a:off x="333914" y="2456402"/>
        <a:ext cx="1800000" cy="720000"/>
      </dsp:txXfrm>
    </dsp:sp>
    <dsp:sp modelId="{6AECEEF8-58FB-4F6B-9732-0ECA529BD2A0}">
      <dsp:nvSpPr>
        <dsp:cNvPr id="0" name=""/>
        <dsp:cNvSpPr/>
      </dsp:nvSpPr>
      <dsp:spPr>
        <a:xfrm>
          <a:off x="2799914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73468F-F947-40F2-9B4B-F539159580EC}">
      <dsp:nvSpPr>
        <dsp:cNvPr id="0" name=""/>
        <dsp:cNvSpPr/>
      </dsp:nvSpPr>
      <dsp:spPr>
        <a:xfrm>
          <a:off x="3033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4FC9CF-962E-4C24-BF15-A98E9289BFB3}">
      <dsp:nvSpPr>
        <dsp:cNvPr id="0" name=""/>
        <dsp:cNvSpPr/>
      </dsp:nvSpPr>
      <dsp:spPr>
        <a:xfrm>
          <a:off x="2448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200" kern="1200"/>
            <a:t>Sparse data and dropout events complicate analysis.</a:t>
          </a:r>
          <a:endParaRPr lang="en-US" sz="1200" kern="1200"/>
        </a:p>
      </dsp:txBody>
      <dsp:txXfrm>
        <a:off x="2448914" y="2456402"/>
        <a:ext cx="1800000" cy="720000"/>
      </dsp:txXfrm>
    </dsp:sp>
    <dsp:sp modelId="{26155226-09F9-4CB3-AE42-FD259247FCAE}">
      <dsp:nvSpPr>
        <dsp:cNvPr id="0" name=""/>
        <dsp:cNvSpPr/>
      </dsp:nvSpPr>
      <dsp:spPr>
        <a:xfrm>
          <a:off x="4914914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B9FD1C-77E4-4DA3-9F80-A41D2B8F851C}">
      <dsp:nvSpPr>
        <dsp:cNvPr id="0" name=""/>
        <dsp:cNvSpPr/>
      </dsp:nvSpPr>
      <dsp:spPr>
        <a:xfrm>
          <a:off x="5148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DF9F93-6A0E-4E71-A8A6-B914EDB6D607}">
      <dsp:nvSpPr>
        <dsp:cNvPr id="0" name=""/>
        <dsp:cNvSpPr/>
      </dsp:nvSpPr>
      <dsp:spPr>
        <a:xfrm>
          <a:off x="456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200" kern="1200"/>
            <a:t>Limited integration with spatial, genetic, or metabolic data.</a:t>
          </a:r>
          <a:endParaRPr lang="en-US" sz="1200" kern="1200"/>
        </a:p>
      </dsp:txBody>
      <dsp:txXfrm>
        <a:off x="4563914" y="2456402"/>
        <a:ext cx="1800000" cy="720000"/>
      </dsp:txXfrm>
    </dsp:sp>
    <dsp:sp modelId="{D47D6336-AFEC-4A42-B528-F64F80A5BA61}">
      <dsp:nvSpPr>
        <dsp:cNvPr id="0" name=""/>
        <dsp:cNvSpPr/>
      </dsp:nvSpPr>
      <dsp:spPr>
        <a:xfrm>
          <a:off x="7029914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8E8031-1500-4E87-8F1C-05AAC92D5085}">
      <dsp:nvSpPr>
        <dsp:cNvPr id="0" name=""/>
        <dsp:cNvSpPr/>
      </dsp:nvSpPr>
      <dsp:spPr>
        <a:xfrm>
          <a:off x="7263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5A625B-8548-47DA-937C-38764A965ED7}">
      <dsp:nvSpPr>
        <dsp:cNvPr id="0" name=""/>
        <dsp:cNvSpPr/>
      </dsp:nvSpPr>
      <dsp:spPr>
        <a:xfrm>
          <a:off x="6678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200" kern="1200"/>
            <a:t>Lack of standardized sample preparation across microbial communities.</a:t>
          </a:r>
          <a:endParaRPr lang="en-US" sz="1200" kern="1200"/>
        </a:p>
      </dsp:txBody>
      <dsp:txXfrm>
        <a:off x="6678914" y="2456402"/>
        <a:ext cx="1800000" cy="720000"/>
      </dsp:txXfrm>
    </dsp:sp>
    <dsp:sp modelId="{BFE060FF-2EFB-4101-87C1-668AB345F991}">
      <dsp:nvSpPr>
        <dsp:cNvPr id="0" name=""/>
        <dsp:cNvSpPr/>
      </dsp:nvSpPr>
      <dsp:spPr>
        <a:xfrm>
          <a:off x="9144914" y="1016402"/>
          <a:ext cx="1098000" cy="109800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9C9E56-2D26-4591-BA1C-35E12BB3E9AC}">
      <dsp:nvSpPr>
        <dsp:cNvPr id="0" name=""/>
        <dsp:cNvSpPr/>
      </dsp:nvSpPr>
      <dsp:spPr>
        <a:xfrm>
          <a:off x="9378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75A762-08D0-4C4B-B230-4030ADE35AD1}">
      <dsp:nvSpPr>
        <dsp:cNvPr id="0" name=""/>
        <dsp:cNvSpPr/>
      </dsp:nvSpPr>
      <dsp:spPr>
        <a:xfrm>
          <a:off x="879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200" kern="1200"/>
            <a:t>Current methods face </a:t>
          </a:r>
          <a:r>
            <a:rPr lang="en-GB" sz="1200" b="1" kern="1200"/>
            <a:t>scalability and reproducibility</a:t>
          </a:r>
          <a:r>
            <a:rPr lang="en-GB" sz="1200" kern="1200"/>
            <a:t> issues.</a:t>
          </a:r>
          <a:endParaRPr lang="en-US" sz="1200" kern="1200"/>
        </a:p>
      </dsp:txBody>
      <dsp:txXfrm>
        <a:off x="8793914" y="2456402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B2E962-AE8A-4E39-BEFC-7D2A50C104BB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C946F7-DD07-4766-847D-04C94698AA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0300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C946F7-DD07-4766-847D-04C94698AAC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15150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C946F7-DD07-4766-847D-04C94698AAC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4602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07044-71F8-6EB3-91EE-7FFDD5BBB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50A710-5417-6D02-C29B-6F31581C9A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FADD39-C9DB-BBB9-4313-89559EF71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61C4-08B0-4665-A8D5-F2ED9D530FA9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E41F0-4CB4-5CD7-DE7C-9572DA0E0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6A1CD-C46A-3288-C343-C23C4CF8F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4CF8-0E2D-4178-9700-BB6CD4468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212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6C46B-FBDC-BAAF-B2B2-984C8B191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AB3D1-21BB-7ED7-1BC8-9C771A31F7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975C8-8E9F-F857-A1D8-F72D47405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61C4-08B0-4665-A8D5-F2ED9D530FA9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0AA14-B01F-3BDD-1FFE-31B0729FC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C8A4D-B363-6158-6357-28C977594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4CF8-0E2D-4178-9700-BB6CD4468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928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51FF3-5AB7-0CEA-EA92-0D7ABC414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B85804-7679-F85E-8AEF-BF4D074D1D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B8A07-6A89-F3F8-FC48-1E4951FE5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61C4-08B0-4665-A8D5-F2ED9D530FA9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13D15-4921-2794-FD1E-CD674DDCB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E323E3-26DD-7958-5F34-1177C0136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4CF8-0E2D-4178-9700-BB6CD4468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8354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45ED7-6A60-EB3F-823B-2DA174FD5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EB21A-7291-FD10-404C-AD9A354379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7DFAA-BC30-D426-761D-BCE28B132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F1FA90-5154-7191-D78D-0ED99DEB4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61C4-08B0-4665-A8D5-F2ED9D530FA9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61C0E3-54A6-75EB-5343-5B4D10CD8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566833-9297-81EB-4D04-4D4918F54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4CF8-0E2D-4178-9700-BB6CD4468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6818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52251-5893-D359-EB82-05C49BBDA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E6212F-1319-7B3A-7C2F-E8C95AE238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FDCBB6-DCC9-38FC-8C23-4C3BED4197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B76BE6-C387-69D8-80EF-07190D7A39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7BE6BF-2DAB-B805-684A-1A5CA2C2C3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D5E5F4-2277-98AA-8DBF-8589F3550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61C4-08B0-4665-A8D5-F2ED9D530FA9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BC1F2E-AC62-A13F-B5CA-0C4A4A1FF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F71E76-D33D-D084-E1E5-428D8676B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4CF8-0E2D-4178-9700-BB6CD4468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2707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4460B-1C76-54ED-B3BC-A49E06799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DF007F-D595-48D3-A55E-69C5CB4AF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61C4-08B0-4665-A8D5-F2ED9D530FA9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92F5BB-62DD-8506-180A-E1AC39963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0F55E5-DD53-5E11-D6BF-91AF8CF89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4CF8-0E2D-4178-9700-BB6CD4468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5156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C86FDA-4438-9864-014F-7E1637D3D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61C4-08B0-4665-A8D5-F2ED9D530FA9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D8D0B4-D787-A902-EC9D-0F4F0F70D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AE308F-D968-4DAC-E8B2-F32C34784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4CF8-0E2D-4178-9700-BB6CD4468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9362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2DBF1-F166-7E27-4B24-B8F9E23DC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A8B32-14A8-13AE-EECD-1062EAD42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B0B220-CC1D-2C2C-2286-FB68645A2F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2E681E-14A6-96F5-0E7B-6C31912F4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61C4-08B0-4665-A8D5-F2ED9D530FA9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2350D5-D62D-BDEB-F65D-319849EBE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E9C760-4F7B-4D85-D1DB-FF65C6949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4CF8-0E2D-4178-9700-BB6CD4468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7870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C3D55-493A-C06D-051E-361A49579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8B9990-39CA-0542-77E1-0EDEE4DF10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D9BA1B-601C-1AD9-6A58-DA2ABFCFB8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142BC6-8E46-B90D-1000-E3F3C069E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61C4-08B0-4665-A8D5-F2ED9D530FA9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4BC998-B2FC-91C1-FC67-E5CF67D24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A3E6DA-5C8B-1584-AE5C-FD4BCFE8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4CF8-0E2D-4178-9700-BB6CD4468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5423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493D0-4757-B2D2-5F9C-E2DCF0719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D95A51-545D-A1F4-864B-7A1F6D5643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E4926-DEA0-C44D-1E9A-4323E4203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61C4-08B0-4665-A8D5-F2ED9D530FA9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7AC79-5B55-EF30-D5F9-53FA7405A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E9663-FD33-C78E-C530-F3807180E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4CF8-0E2D-4178-9700-BB6CD4468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641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F40524-9A08-3D0E-4559-218B4C4FBA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0412E4-0585-1B9A-052F-6335939551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70833-6D4C-49F0-30B5-73C607DB6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61C4-08B0-4665-A8D5-F2ED9D530FA9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18431-DCE6-124F-87EC-2FC0CAD21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C64AF-FED9-485E-7CC8-CEA0ECA92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4CF8-0E2D-4178-9700-BB6CD4468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1036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41A35-5334-D757-6B55-E6EAA7299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3DAA07-02F8-DAAB-BC09-61CA230FE3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50D8C8-FC12-2AFC-CAA5-99AAC290B8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DA61C4-08B0-4665-A8D5-F2ED9D530FA9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A066D-2523-F3A7-3C24-C9CB785AED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99DEA-C625-405F-844B-F009064142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1B4CF8-0E2D-4178-9700-BB6CD4468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5533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7" name="Picture 6" descr="Chemical formulas are written on paper">
            <a:extLst>
              <a:ext uri="{FF2B5EF4-FFF2-40B4-BE49-F238E27FC236}">
                <a16:creationId xmlns:a16="http://schemas.microsoft.com/office/drawing/2014/main" id="{2139E66A-1939-D9CE-3F08-F8A972D512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5"/>
          <a:stretch>
            <a:fillRect/>
          </a:stretch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F6DD4703-FD80-4610-ACE9-01DCD86D8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67853" y="0"/>
            <a:ext cx="10256294" cy="6858000"/>
          </a:xfrm>
          <a:custGeom>
            <a:avLst/>
            <a:gdLst>
              <a:gd name="connsiteX0" fmla="*/ 8218354 w 9841377"/>
              <a:gd name="connsiteY0" fmla="*/ 0 h 6858000"/>
              <a:gd name="connsiteX1" fmla="*/ 5551962 w 9841377"/>
              <a:gd name="connsiteY1" fmla="*/ 0 h 6858000"/>
              <a:gd name="connsiteX2" fmla="*/ 5482342 w 9841377"/>
              <a:gd name="connsiteY2" fmla="*/ 0 h 6858000"/>
              <a:gd name="connsiteX3" fmla="*/ 4359035 w 9841377"/>
              <a:gd name="connsiteY3" fmla="*/ 0 h 6858000"/>
              <a:gd name="connsiteX4" fmla="*/ 4289415 w 9841377"/>
              <a:gd name="connsiteY4" fmla="*/ 0 h 6858000"/>
              <a:gd name="connsiteX5" fmla="*/ 1623023 w 9841377"/>
              <a:gd name="connsiteY5" fmla="*/ 0 h 6858000"/>
              <a:gd name="connsiteX6" fmla="*/ 1600899 w 9841377"/>
              <a:gd name="connsiteY6" fmla="*/ 14997 h 6858000"/>
              <a:gd name="connsiteX7" fmla="*/ 0 w 9841377"/>
              <a:gd name="connsiteY7" fmla="*/ 3621656 h 6858000"/>
              <a:gd name="connsiteX8" fmla="*/ 1874350 w 9841377"/>
              <a:gd name="connsiteY8" fmla="*/ 6374814 h 6858000"/>
              <a:gd name="connsiteX9" fmla="*/ 2390998 w 9841377"/>
              <a:gd name="connsiteY9" fmla="*/ 6780599 h 6858000"/>
              <a:gd name="connsiteX10" fmla="*/ 2502754 w 9841377"/>
              <a:gd name="connsiteY10" fmla="*/ 6858000 h 6858000"/>
              <a:gd name="connsiteX11" fmla="*/ 4289415 w 9841377"/>
              <a:gd name="connsiteY11" fmla="*/ 6858000 h 6858000"/>
              <a:gd name="connsiteX12" fmla="*/ 4359035 w 9841377"/>
              <a:gd name="connsiteY12" fmla="*/ 6858000 h 6858000"/>
              <a:gd name="connsiteX13" fmla="*/ 5482342 w 9841377"/>
              <a:gd name="connsiteY13" fmla="*/ 6858000 h 6858000"/>
              <a:gd name="connsiteX14" fmla="*/ 5551962 w 9841377"/>
              <a:gd name="connsiteY14" fmla="*/ 6858000 h 6858000"/>
              <a:gd name="connsiteX15" fmla="*/ 7338623 w 9841377"/>
              <a:gd name="connsiteY15" fmla="*/ 6858000 h 6858000"/>
              <a:gd name="connsiteX16" fmla="*/ 7450379 w 9841377"/>
              <a:gd name="connsiteY16" fmla="*/ 6780599 h 6858000"/>
              <a:gd name="connsiteX17" fmla="*/ 7967027 w 9841377"/>
              <a:gd name="connsiteY17" fmla="*/ 6374814 h 6858000"/>
              <a:gd name="connsiteX18" fmla="*/ 9841377 w 9841377"/>
              <a:gd name="connsiteY18" fmla="*/ 3621656 h 6858000"/>
              <a:gd name="connsiteX19" fmla="*/ 8240478 w 9841377"/>
              <a:gd name="connsiteY19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841377" h="6858000">
                <a:moveTo>
                  <a:pt x="8218354" y="0"/>
                </a:moveTo>
                <a:lnTo>
                  <a:pt x="5551962" y="0"/>
                </a:lnTo>
                <a:lnTo>
                  <a:pt x="5482342" y="0"/>
                </a:lnTo>
                <a:lnTo>
                  <a:pt x="4359035" y="0"/>
                </a:lnTo>
                <a:lnTo>
                  <a:pt x="4289415" y="0"/>
                </a:lnTo>
                <a:lnTo>
                  <a:pt x="1623023" y="0"/>
                </a:lnTo>
                <a:lnTo>
                  <a:pt x="1600899" y="14997"/>
                </a:lnTo>
                <a:cubicBezTo>
                  <a:pt x="573736" y="754641"/>
                  <a:pt x="0" y="2093192"/>
                  <a:pt x="0" y="3621656"/>
                </a:cubicBezTo>
                <a:cubicBezTo>
                  <a:pt x="0" y="4969131"/>
                  <a:pt x="928725" y="5602839"/>
                  <a:pt x="1874350" y="6374814"/>
                </a:cubicBezTo>
                <a:cubicBezTo>
                  <a:pt x="2046553" y="6515397"/>
                  <a:pt x="2217180" y="6653108"/>
                  <a:pt x="2390998" y="6780599"/>
                </a:cubicBezTo>
                <a:lnTo>
                  <a:pt x="2502754" y="6858000"/>
                </a:lnTo>
                <a:lnTo>
                  <a:pt x="4289415" y="6858000"/>
                </a:lnTo>
                <a:lnTo>
                  <a:pt x="4359035" y="6858000"/>
                </a:lnTo>
                <a:lnTo>
                  <a:pt x="5482342" y="6858000"/>
                </a:lnTo>
                <a:lnTo>
                  <a:pt x="5551962" y="6858000"/>
                </a:lnTo>
                <a:lnTo>
                  <a:pt x="7338623" y="6858000"/>
                </a:lnTo>
                <a:lnTo>
                  <a:pt x="7450379" y="6780599"/>
                </a:lnTo>
                <a:cubicBezTo>
                  <a:pt x="7624197" y="6653108"/>
                  <a:pt x="7794824" y="6515397"/>
                  <a:pt x="7967027" y="6374814"/>
                </a:cubicBezTo>
                <a:cubicBezTo>
                  <a:pt x="8912652" y="5602839"/>
                  <a:pt x="9841377" y="4969131"/>
                  <a:pt x="9841377" y="3621656"/>
                </a:cubicBezTo>
                <a:cubicBezTo>
                  <a:pt x="9841377" y="2093192"/>
                  <a:pt x="9267641" y="754641"/>
                  <a:pt x="8240478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9CEFCBC2-6F82-4011-8D8D-90F43DCB1D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08571" y="0"/>
            <a:ext cx="9958950" cy="6858000"/>
          </a:xfrm>
          <a:custGeom>
            <a:avLst/>
            <a:gdLst>
              <a:gd name="connsiteX0" fmla="*/ 7551973 w 9174595"/>
              <a:gd name="connsiteY0" fmla="*/ 0 h 6858000"/>
              <a:gd name="connsiteX1" fmla="*/ 5634635 w 9174595"/>
              <a:gd name="connsiteY1" fmla="*/ 0 h 6858000"/>
              <a:gd name="connsiteX2" fmla="*/ 5550590 w 9174595"/>
              <a:gd name="connsiteY2" fmla="*/ 0 h 6858000"/>
              <a:gd name="connsiteX3" fmla="*/ 5480986 w 9174595"/>
              <a:gd name="connsiteY3" fmla="*/ 0 h 6858000"/>
              <a:gd name="connsiteX4" fmla="*/ 4886240 w 9174595"/>
              <a:gd name="connsiteY4" fmla="*/ 0 h 6858000"/>
              <a:gd name="connsiteX5" fmla="*/ 4816638 w 9174595"/>
              <a:gd name="connsiteY5" fmla="*/ 0 h 6858000"/>
              <a:gd name="connsiteX6" fmla="*/ 4357958 w 9174595"/>
              <a:gd name="connsiteY6" fmla="*/ 0 h 6858000"/>
              <a:gd name="connsiteX7" fmla="*/ 4288354 w 9174595"/>
              <a:gd name="connsiteY7" fmla="*/ 0 h 6858000"/>
              <a:gd name="connsiteX8" fmla="*/ 3693608 w 9174595"/>
              <a:gd name="connsiteY8" fmla="*/ 0 h 6858000"/>
              <a:gd name="connsiteX9" fmla="*/ 3624006 w 9174595"/>
              <a:gd name="connsiteY9" fmla="*/ 0 h 6858000"/>
              <a:gd name="connsiteX10" fmla="*/ 3276448 w 9174595"/>
              <a:gd name="connsiteY10" fmla="*/ 0 h 6858000"/>
              <a:gd name="connsiteX11" fmla="*/ 1622622 w 9174595"/>
              <a:gd name="connsiteY11" fmla="*/ 0 h 6858000"/>
              <a:gd name="connsiteX12" fmla="*/ 1600504 w 9174595"/>
              <a:gd name="connsiteY12" fmla="*/ 14997 h 6858000"/>
              <a:gd name="connsiteX13" fmla="*/ 0 w 9174595"/>
              <a:gd name="connsiteY13" fmla="*/ 3621656 h 6858000"/>
              <a:gd name="connsiteX14" fmla="*/ 1873886 w 9174595"/>
              <a:gd name="connsiteY14" fmla="*/ 6374814 h 6858000"/>
              <a:gd name="connsiteX15" fmla="*/ 2390406 w 9174595"/>
              <a:gd name="connsiteY15" fmla="*/ 6780599 h 6858000"/>
              <a:gd name="connsiteX16" fmla="*/ 2502136 w 9174595"/>
              <a:gd name="connsiteY16" fmla="*/ 6858000 h 6858000"/>
              <a:gd name="connsiteX17" fmla="*/ 3276448 w 9174595"/>
              <a:gd name="connsiteY17" fmla="*/ 6858000 h 6858000"/>
              <a:gd name="connsiteX18" fmla="*/ 3624006 w 9174595"/>
              <a:gd name="connsiteY18" fmla="*/ 6858000 h 6858000"/>
              <a:gd name="connsiteX19" fmla="*/ 3693608 w 9174595"/>
              <a:gd name="connsiteY19" fmla="*/ 6858000 h 6858000"/>
              <a:gd name="connsiteX20" fmla="*/ 4288354 w 9174595"/>
              <a:gd name="connsiteY20" fmla="*/ 6858000 h 6858000"/>
              <a:gd name="connsiteX21" fmla="*/ 4357958 w 9174595"/>
              <a:gd name="connsiteY21" fmla="*/ 6858000 h 6858000"/>
              <a:gd name="connsiteX22" fmla="*/ 4816638 w 9174595"/>
              <a:gd name="connsiteY22" fmla="*/ 6858000 h 6858000"/>
              <a:gd name="connsiteX23" fmla="*/ 4886240 w 9174595"/>
              <a:gd name="connsiteY23" fmla="*/ 6858000 h 6858000"/>
              <a:gd name="connsiteX24" fmla="*/ 5480986 w 9174595"/>
              <a:gd name="connsiteY24" fmla="*/ 6858000 h 6858000"/>
              <a:gd name="connsiteX25" fmla="*/ 5550590 w 9174595"/>
              <a:gd name="connsiteY25" fmla="*/ 6858000 h 6858000"/>
              <a:gd name="connsiteX26" fmla="*/ 5634635 w 9174595"/>
              <a:gd name="connsiteY26" fmla="*/ 6858000 h 6858000"/>
              <a:gd name="connsiteX27" fmla="*/ 6672460 w 9174595"/>
              <a:gd name="connsiteY27" fmla="*/ 6858000 h 6858000"/>
              <a:gd name="connsiteX28" fmla="*/ 6784188 w 9174595"/>
              <a:gd name="connsiteY28" fmla="*/ 6780599 h 6858000"/>
              <a:gd name="connsiteX29" fmla="*/ 7300708 w 9174595"/>
              <a:gd name="connsiteY29" fmla="*/ 6374814 h 6858000"/>
              <a:gd name="connsiteX30" fmla="*/ 9174595 w 9174595"/>
              <a:gd name="connsiteY30" fmla="*/ 3621656 h 6858000"/>
              <a:gd name="connsiteX31" fmla="*/ 7574092 w 9174595"/>
              <a:gd name="connsiteY3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174595" h="6858000">
                <a:moveTo>
                  <a:pt x="7551973" y="0"/>
                </a:moveTo>
                <a:lnTo>
                  <a:pt x="5634635" y="0"/>
                </a:lnTo>
                <a:lnTo>
                  <a:pt x="5550590" y="0"/>
                </a:lnTo>
                <a:lnTo>
                  <a:pt x="5480986" y="0"/>
                </a:lnTo>
                <a:lnTo>
                  <a:pt x="4886240" y="0"/>
                </a:lnTo>
                <a:lnTo>
                  <a:pt x="4816638" y="0"/>
                </a:lnTo>
                <a:lnTo>
                  <a:pt x="4357958" y="0"/>
                </a:lnTo>
                <a:lnTo>
                  <a:pt x="4288354" y="0"/>
                </a:lnTo>
                <a:lnTo>
                  <a:pt x="3693608" y="0"/>
                </a:lnTo>
                <a:lnTo>
                  <a:pt x="3624006" y="0"/>
                </a:lnTo>
                <a:lnTo>
                  <a:pt x="3276448" y="0"/>
                </a:lnTo>
                <a:lnTo>
                  <a:pt x="1622622" y="0"/>
                </a:lnTo>
                <a:lnTo>
                  <a:pt x="1600504" y="14997"/>
                </a:lnTo>
                <a:cubicBezTo>
                  <a:pt x="573594" y="754641"/>
                  <a:pt x="0" y="2093192"/>
                  <a:pt x="0" y="3621656"/>
                </a:cubicBezTo>
                <a:cubicBezTo>
                  <a:pt x="0" y="4969131"/>
                  <a:pt x="928496" y="5602839"/>
                  <a:pt x="1873886" y="6374814"/>
                </a:cubicBezTo>
                <a:cubicBezTo>
                  <a:pt x="2046046" y="6515397"/>
                  <a:pt x="2216632" y="6653108"/>
                  <a:pt x="2390406" y="6780599"/>
                </a:cubicBezTo>
                <a:lnTo>
                  <a:pt x="2502136" y="6858000"/>
                </a:lnTo>
                <a:lnTo>
                  <a:pt x="3276448" y="6858000"/>
                </a:lnTo>
                <a:lnTo>
                  <a:pt x="3624006" y="6858000"/>
                </a:lnTo>
                <a:lnTo>
                  <a:pt x="3693608" y="6858000"/>
                </a:lnTo>
                <a:lnTo>
                  <a:pt x="4288354" y="6858000"/>
                </a:lnTo>
                <a:lnTo>
                  <a:pt x="4357958" y="6858000"/>
                </a:lnTo>
                <a:lnTo>
                  <a:pt x="4816638" y="6858000"/>
                </a:lnTo>
                <a:lnTo>
                  <a:pt x="4886240" y="6858000"/>
                </a:lnTo>
                <a:lnTo>
                  <a:pt x="5480986" y="6858000"/>
                </a:lnTo>
                <a:lnTo>
                  <a:pt x="5550590" y="6858000"/>
                </a:lnTo>
                <a:lnTo>
                  <a:pt x="5634635" y="6858000"/>
                </a:lnTo>
                <a:lnTo>
                  <a:pt x="6672460" y="6858000"/>
                </a:lnTo>
                <a:lnTo>
                  <a:pt x="6784188" y="6780599"/>
                </a:lnTo>
                <a:cubicBezTo>
                  <a:pt x="6957963" y="6653108"/>
                  <a:pt x="7128548" y="6515397"/>
                  <a:pt x="7300708" y="6374814"/>
                </a:cubicBezTo>
                <a:cubicBezTo>
                  <a:pt x="8246100" y="5602839"/>
                  <a:pt x="9174595" y="4969131"/>
                  <a:pt x="9174595" y="3621656"/>
                </a:cubicBezTo>
                <a:cubicBezTo>
                  <a:pt x="9174595" y="2093192"/>
                  <a:pt x="8601001" y="754641"/>
                  <a:pt x="7574092" y="14997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2E9DED9E-DE30-402A-B9D1-AC3C24025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08673" y="-35602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5CCB7C65-BA06-49C5-8D3C-51F97B409D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75235" y="-35602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4E3A9F-DDE5-94AA-3939-51ED4436D0B2}"/>
              </a:ext>
            </a:extLst>
          </p:cNvPr>
          <p:cNvSpPr txBox="1"/>
          <p:nvPr/>
        </p:nvSpPr>
        <p:spPr>
          <a:xfrm>
            <a:off x="2190750" y="1346268"/>
            <a:ext cx="7810500" cy="266118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700" b="1">
                <a:latin typeface="+mj-lt"/>
                <a:ea typeface="+mj-ea"/>
                <a:cs typeface="+mj-cs"/>
              </a:rPr>
              <a:t>Dissecting Microbial Communities with Single-Cell Transcriptome Analysis</a:t>
            </a:r>
            <a:endParaRPr lang="en-US" sz="4700"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ADDD86-751C-05CE-C596-186CB9ED315C}"/>
              </a:ext>
            </a:extLst>
          </p:cNvPr>
          <p:cNvSpPr txBox="1"/>
          <p:nvPr/>
        </p:nvSpPr>
        <p:spPr>
          <a:xfrm>
            <a:off x="2911570" y="4185616"/>
            <a:ext cx="5934075" cy="54830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 i="1" dirty="0"/>
              <a:t>(Adapted from Pountain &amp; Yanai, 2025)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73484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492A4DE-9459-0C36-4265-3034FF7BD1A5}"/>
              </a:ext>
            </a:extLst>
          </p:cNvPr>
          <p:cNvSpPr txBox="1"/>
          <p:nvPr/>
        </p:nvSpPr>
        <p:spPr>
          <a:xfrm>
            <a:off x="740279" y="2071972"/>
            <a:ext cx="3702579" cy="37442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700" dirty="0">
                <a:solidFill>
                  <a:srgbClr val="FFFFFF"/>
                </a:solidFill>
              </a:rPr>
              <a:t>Microbes are important for health and metabolism.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700" dirty="0">
                <a:solidFill>
                  <a:srgbClr val="FFFFFF"/>
                </a:solidFill>
              </a:rPr>
              <a:t>Traditional methods of studying microbial communities, like metagenomics and metatranscriptomics, study groups of cells together.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700" dirty="0">
                <a:solidFill>
                  <a:srgbClr val="FFFFFF"/>
                </a:solidFill>
              </a:rPr>
              <a:t>These show only average gene activity and hide differences between individual cells.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700" dirty="0">
                <a:solidFill>
                  <a:srgbClr val="FFFFFF"/>
                </a:solidFill>
              </a:rPr>
              <a:t>Single-cell RNA sequencing (scRNA-seq) shows what each cell is doing, revealing hidden diversity.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b="1" dirty="0">
                <a:solidFill>
                  <a:schemeClr val="bg1"/>
                </a:solidFill>
              </a:rPr>
              <a:t>Source: (Pountain and Yanai, 2025)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dirty="0"/>
          </a:p>
        </p:txBody>
      </p:sp>
      <p:pic>
        <p:nvPicPr>
          <p:cNvPr id="7" name="Picture 6" descr="A diagram of a cell culture&#10;&#10;AI-generated content may be incorrect.">
            <a:extLst>
              <a:ext uri="{FF2B5EF4-FFF2-40B4-BE49-F238E27FC236}">
                <a16:creationId xmlns:a16="http://schemas.microsoft.com/office/drawing/2014/main" id="{17657D3B-7246-F804-8600-E29CA2BE9E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5304" y="995848"/>
            <a:ext cx="5407002" cy="486630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FED830E-6147-5F15-07A3-82ABE7583A37}"/>
              </a:ext>
            </a:extLst>
          </p:cNvPr>
          <p:cNvSpPr txBox="1"/>
          <p:nvPr/>
        </p:nvSpPr>
        <p:spPr>
          <a:xfrm>
            <a:off x="1714500" y="654627"/>
            <a:ext cx="40212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30A8E7-D712-576A-76A5-FD961C367C9D}"/>
              </a:ext>
            </a:extLst>
          </p:cNvPr>
          <p:cNvSpPr txBox="1"/>
          <p:nvPr/>
        </p:nvSpPr>
        <p:spPr>
          <a:xfrm>
            <a:off x="7953232" y="6207183"/>
            <a:ext cx="40254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Fig 1: Comparing bulk and scRNA-seq (Carr et al., 2020).</a:t>
            </a:r>
          </a:p>
        </p:txBody>
      </p:sp>
    </p:spTree>
    <p:extLst>
      <p:ext uri="{BB962C8B-B14F-4D97-AF65-F5344CB8AC3E}">
        <p14:creationId xmlns:p14="http://schemas.microsoft.com/office/powerpoint/2010/main" val="1250984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4166E6-ADFA-AF06-DFA9-7F03FC73C175}"/>
              </a:ext>
            </a:extLst>
          </p:cNvPr>
          <p:cNvSpPr txBox="1"/>
          <p:nvPr/>
        </p:nvSpPr>
        <p:spPr>
          <a:xfrm>
            <a:off x="630936" y="640823"/>
            <a:ext cx="3419856" cy="5583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Methods of scRNA-seq</a:t>
            </a:r>
          </a:p>
        </p:txBody>
      </p:sp>
      <p:sp>
        <p:nvSpPr>
          <p:cNvPr id="47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67200" y="630936"/>
            <a:ext cx="18288" cy="5590381"/>
          </a:xfrm>
          <a:custGeom>
            <a:avLst/>
            <a:gdLst>
              <a:gd name="connsiteX0" fmla="*/ 0 w 18288"/>
              <a:gd name="connsiteY0" fmla="*/ 0 h 5590381"/>
              <a:gd name="connsiteX1" fmla="*/ 18288 w 18288"/>
              <a:gd name="connsiteY1" fmla="*/ 0 h 5590381"/>
              <a:gd name="connsiteX2" fmla="*/ 18288 w 18288"/>
              <a:gd name="connsiteY2" fmla="*/ 754701 h 5590381"/>
              <a:gd name="connsiteX3" fmla="*/ 18288 w 18288"/>
              <a:gd name="connsiteY3" fmla="*/ 1565307 h 5590381"/>
              <a:gd name="connsiteX4" fmla="*/ 18288 w 18288"/>
              <a:gd name="connsiteY4" fmla="*/ 2152297 h 5590381"/>
              <a:gd name="connsiteX5" fmla="*/ 18288 w 18288"/>
              <a:gd name="connsiteY5" fmla="*/ 2906998 h 5590381"/>
              <a:gd name="connsiteX6" fmla="*/ 18288 w 18288"/>
              <a:gd name="connsiteY6" fmla="*/ 3549892 h 5590381"/>
              <a:gd name="connsiteX7" fmla="*/ 18288 w 18288"/>
              <a:gd name="connsiteY7" fmla="*/ 4080978 h 5590381"/>
              <a:gd name="connsiteX8" fmla="*/ 18288 w 18288"/>
              <a:gd name="connsiteY8" fmla="*/ 4835680 h 5590381"/>
              <a:gd name="connsiteX9" fmla="*/ 18288 w 18288"/>
              <a:gd name="connsiteY9" fmla="*/ 5590381 h 5590381"/>
              <a:gd name="connsiteX10" fmla="*/ 0 w 18288"/>
              <a:gd name="connsiteY10" fmla="*/ 5590381 h 5590381"/>
              <a:gd name="connsiteX11" fmla="*/ 0 w 18288"/>
              <a:gd name="connsiteY11" fmla="*/ 4835680 h 5590381"/>
              <a:gd name="connsiteX12" fmla="*/ 0 w 18288"/>
              <a:gd name="connsiteY12" fmla="*/ 4304593 h 5590381"/>
              <a:gd name="connsiteX13" fmla="*/ 0 w 18288"/>
              <a:gd name="connsiteY13" fmla="*/ 3773507 h 5590381"/>
              <a:gd name="connsiteX14" fmla="*/ 0 w 18288"/>
              <a:gd name="connsiteY14" fmla="*/ 3186517 h 5590381"/>
              <a:gd name="connsiteX15" fmla="*/ 0 w 18288"/>
              <a:gd name="connsiteY15" fmla="*/ 2487720 h 5590381"/>
              <a:gd name="connsiteX16" fmla="*/ 0 w 18288"/>
              <a:gd name="connsiteY16" fmla="*/ 1956633 h 5590381"/>
              <a:gd name="connsiteX17" fmla="*/ 0 w 18288"/>
              <a:gd name="connsiteY17" fmla="*/ 1425547 h 5590381"/>
              <a:gd name="connsiteX18" fmla="*/ 0 w 18288"/>
              <a:gd name="connsiteY18" fmla="*/ 614942 h 5590381"/>
              <a:gd name="connsiteX19" fmla="*/ 0 w 18288"/>
              <a:gd name="connsiteY19" fmla="*/ 0 h 559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8288" h="5590381" fill="none" extrusionOk="0">
                <a:moveTo>
                  <a:pt x="0" y="0"/>
                </a:moveTo>
                <a:cubicBezTo>
                  <a:pt x="7726" y="-435"/>
                  <a:pt x="14198" y="437"/>
                  <a:pt x="18288" y="0"/>
                </a:cubicBezTo>
                <a:cubicBezTo>
                  <a:pt x="-5226" y="225076"/>
                  <a:pt x="46275" y="562283"/>
                  <a:pt x="18288" y="754701"/>
                </a:cubicBezTo>
                <a:cubicBezTo>
                  <a:pt x="-9699" y="947119"/>
                  <a:pt x="30081" y="1239251"/>
                  <a:pt x="18288" y="1565307"/>
                </a:cubicBezTo>
                <a:cubicBezTo>
                  <a:pt x="6495" y="1891363"/>
                  <a:pt x="7160" y="1999140"/>
                  <a:pt x="18288" y="2152297"/>
                </a:cubicBezTo>
                <a:cubicBezTo>
                  <a:pt x="29417" y="2305454"/>
                  <a:pt x="28705" y="2598333"/>
                  <a:pt x="18288" y="2906998"/>
                </a:cubicBezTo>
                <a:cubicBezTo>
                  <a:pt x="7871" y="3215663"/>
                  <a:pt x="35263" y="3327412"/>
                  <a:pt x="18288" y="3549892"/>
                </a:cubicBezTo>
                <a:cubicBezTo>
                  <a:pt x="1313" y="3772372"/>
                  <a:pt x="38561" y="3843836"/>
                  <a:pt x="18288" y="4080978"/>
                </a:cubicBezTo>
                <a:cubicBezTo>
                  <a:pt x="-1985" y="4318120"/>
                  <a:pt x="-3806" y="4511166"/>
                  <a:pt x="18288" y="4835680"/>
                </a:cubicBezTo>
                <a:cubicBezTo>
                  <a:pt x="40382" y="5160194"/>
                  <a:pt x="-13070" y="5401748"/>
                  <a:pt x="18288" y="5590381"/>
                </a:cubicBezTo>
                <a:cubicBezTo>
                  <a:pt x="12010" y="5589863"/>
                  <a:pt x="6799" y="5589982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8288" h="5590381" stroke="0" extrusionOk="0">
                <a:moveTo>
                  <a:pt x="0" y="0"/>
                </a:moveTo>
                <a:cubicBezTo>
                  <a:pt x="5871" y="848"/>
                  <a:pt x="11713" y="-200"/>
                  <a:pt x="18288" y="0"/>
                </a:cubicBezTo>
                <a:cubicBezTo>
                  <a:pt x="41141" y="165299"/>
                  <a:pt x="3613" y="427555"/>
                  <a:pt x="18288" y="698798"/>
                </a:cubicBezTo>
                <a:cubicBezTo>
                  <a:pt x="32963" y="970041"/>
                  <a:pt x="19680" y="1226199"/>
                  <a:pt x="18288" y="1397595"/>
                </a:cubicBezTo>
                <a:cubicBezTo>
                  <a:pt x="16896" y="1568991"/>
                  <a:pt x="38798" y="1794517"/>
                  <a:pt x="18288" y="2152297"/>
                </a:cubicBezTo>
                <a:cubicBezTo>
                  <a:pt x="-2222" y="2510077"/>
                  <a:pt x="40846" y="2594424"/>
                  <a:pt x="18288" y="2739287"/>
                </a:cubicBezTo>
                <a:cubicBezTo>
                  <a:pt x="-4270" y="2884150"/>
                  <a:pt x="27117" y="3129706"/>
                  <a:pt x="18288" y="3493988"/>
                </a:cubicBezTo>
                <a:cubicBezTo>
                  <a:pt x="9459" y="3858270"/>
                  <a:pt x="54201" y="4041447"/>
                  <a:pt x="18288" y="4304593"/>
                </a:cubicBezTo>
                <a:cubicBezTo>
                  <a:pt x="-17625" y="4567740"/>
                  <a:pt x="49627" y="5149125"/>
                  <a:pt x="18288" y="5590381"/>
                </a:cubicBezTo>
                <a:cubicBezTo>
                  <a:pt x="10860" y="5590744"/>
                  <a:pt x="7568" y="5590157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diagram of a droplet-based indexing&#10;&#10;AI-generated content may be incorrect.">
            <a:extLst>
              <a:ext uri="{FF2B5EF4-FFF2-40B4-BE49-F238E27FC236}">
                <a16:creationId xmlns:a16="http://schemas.microsoft.com/office/drawing/2014/main" id="{E9E15F05-1928-6F7D-C357-8D15EFD858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734835"/>
            <a:ext cx="6894576" cy="37058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884FBE-B96F-16D6-E430-957B3FD05C17}"/>
              </a:ext>
            </a:extLst>
          </p:cNvPr>
          <p:cNvSpPr txBox="1"/>
          <p:nvPr/>
        </p:nvSpPr>
        <p:spPr>
          <a:xfrm>
            <a:off x="4556760" y="5096487"/>
            <a:ext cx="6894576" cy="14284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400050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500" dirty="0"/>
              <a:t>PETRI-seq, microSPLiT, BaSSSH-seq use barcodes to tag cells.</a:t>
            </a:r>
          </a:p>
          <a:p>
            <a:pPr marL="400050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500" dirty="0"/>
              <a:t>ProBac-seq, smRandom-seq put single cells in tiny droplets.</a:t>
            </a:r>
          </a:p>
          <a:p>
            <a:pPr marL="400050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500" dirty="0"/>
              <a:t>BacDrop, M3-seq mix plate and droplet methods.</a:t>
            </a:r>
          </a:p>
          <a:p>
            <a:pPr marL="400050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500" dirty="0"/>
              <a:t>Analysis finds which genes are active in each cell.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500" b="1" dirty="0"/>
              <a:t>Source: (Pountain and Yanai, 2025)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824B94-8000-7BFD-845B-C2D2E10E3349}"/>
              </a:ext>
            </a:extLst>
          </p:cNvPr>
          <p:cNvSpPr txBox="1"/>
          <p:nvPr/>
        </p:nvSpPr>
        <p:spPr>
          <a:xfrm>
            <a:off x="4666488" y="4427994"/>
            <a:ext cx="6894576" cy="370583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 wrap="square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GB" sz="1300" b="1" dirty="0">
                <a:solidFill>
                  <a:srgbClr val="FFFFFF"/>
                </a:solidFill>
              </a:rPr>
              <a:t>Fig 2: Methods of scRNA-seq (Pountain and Yanai, 2025).</a:t>
            </a:r>
          </a:p>
        </p:txBody>
      </p:sp>
    </p:spTree>
    <p:extLst>
      <p:ext uri="{BB962C8B-B14F-4D97-AF65-F5344CB8AC3E}">
        <p14:creationId xmlns:p14="http://schemas.microsoft.com/office/powerpoint/2010/main" val="2316799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A diagram of a cell line&#10;&#10;AI-generated content may be incorrect.">
            <a:extLst>
              <a:ext uri="{FF2B5EF4-FFF2-40B4-BE49-F238E27FC236}">
                <a16:creationId xmlns:a16="http://schemas.microsoft.com/office/drawing/2014/main" id="{5EA6E455-DF92-3C20-C4C9-571B7D75B6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" b="601"/>
          <a:stretch>
            <a:fillRect/>
          </a:stretch>
        </p:blipFill>
        <p:spPr>
          <a:xfrm>
            <a:off x="703182" y="618733"/>
            <a:ext cx="4777381" cy="537459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550722-A83A-A9C8-B48C-70F857A5A966}"/>
              </a:ext>
            </a:extLst>
          </p:cNvPr>
          <p:cNvSpPr txBox="1"/>
          <p:nvPr/>
        </p:nvSpPr>
        <p:spPr>
          <a:xfrm>
            <a:off x="6096000" y="2069399"/>
            <a:ext cx="4777381" cy="235020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400050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dirty="0"/>
              <a:t>Shows differences between cells in a community.</a:t>
            </a:r>
          </a:p>
          <a:p>
            <a:pPr marL="400050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dirty="0"/>
              <a:t>Finds rare or special types of cells.</a:t>
            </a:r>
          </a:p>
          <a:p>
            <a:pPr marL="400050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dirty="0"/>
              <a:t>Tracks antibiotic resistance and stress responses.</a:t>
            </a:r>
          </a:p>
          <a:p>
            <a:pPr marL="400050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dirty="0"/>
              <a:t>Reveals how microbes work together or divide tasks.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 dirty="0"/>
              <a:t>Source: (Pountain and Yanai, 2025)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D9775A-B95C-DCA4-F51B-BC38FC397CBE}"/>
              </a:ext>
            </a:extLst>
          </p:cNvPr>
          <p:cNvSpPr txBox="1"/>
          <p:nvPr/>
        </p:nvSpPr>
        <p:spPr>
          <a:xfrm>
            <a:off x="2504931" y="6103009"/>
            <a:ext cx="56495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200" b="1" dirty="0"/>
              <a:t>Fig 3: Overview of PETRI-</a:t>
            </a:r>
            <a:r>
              <a:rPr lang="en-GB" sz="1200" b="1" dirty="0" err="1"/>
              <a:t>seq</a:t>
            </a:r>
            <a:r>
              <a:rPr lang="en-GB" sz="1200" b="1" dirty="0"/>
              <a:t> workflow for bacterial single-cell RNA sequencing (Blattman et al., 2020).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BBFEE3-A4B9-B15A-B4EB-EB31C0C9D219}"/>
              </a:ext>
            </a:extLst>
          </p:cNvPr>
          <p:cNvSpPr txBox="1"/>
          <p:nvPr/>
        </p:nvSpPr>
        <p:spPr>
          <a:xfrm>
            <a:off x="5329691" y="42738"/>
            <a:ext cx="551664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/>
              <a:t>Applications of scRNA-seq</a:t>
            </a:r>
          </a:p>
        </p:txBody>
      </p:sp>
    </p:spTree>
    <p:extLst>
      <p:ext uri="{BB962C8B-B14F-4D97-AF65-F5344CB8AC3E}">
        <p14:creationId xmlns:p14="http://schemas.microsoft.com/office/powerpoint/2010/main" val="1097420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58DDDA-93F5-47CC-976A-D309910CFD3D}"/>
              </a:ext>
            </a:extLst>
          </p:cNvPr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Gaps, Challenges &amp; Limitations</a:t>
            </a:r>
          </a:p>
        </p:txBody>
      </p:sp>
      <p:graphicFrame>
        <p:nvGraphicFramePr>
          <p:cNvPr id="8" name="TextBox 4">
            <a:extLst>
              <a:ext uri="{FF2B5EF4-FFF2-40B4-BE49-F238E27FC236}">
                <a16:creationId xmlns:a16="http://schemas.microsoft.com/office/drawing/2014/main" id="{14339B05-A9D7-2D39-65A6-65890B8B27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8000569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14203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2F3C9D-5169-34BE-AA51-86E291DE7D32}"/>
              </a:ext>
            </a:extLst>
          </p:cNvPr>
          <p:cNvSpPr txBox="1"/>
          <p:nvPr/>
        </p:nvSpPr>
        <p:spPr>
          <a:xfrm>
            <a:off x="1071315" y="791928"/>
            <a:ext cx="2388655" cy="13852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D68F507-066B-F00D-F5A2-7D79A5E5ECE5}"/>
              </a:ext>
            </a:extLst>
          </p:cNvPr>
          <p:cNvSpPr txBox="1"/>
          <p:nvPr/>
        </p:nvSpPr>
        <p:spPr>
          <a:xfrm>
            <a:off x="892810" y="1962150"/>
            <a:ext cx="3291837" cy="22657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Single-cell RNA sequencing reveals differences in microbial activity using various methods, though low RNA content and data noise still challenge full understanding of microbial behavior.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A29110-9C62-A775-7922-7DFCA1B15E0D}"/>
              </a:ext>
            </a:extLst>
          </p:cNvPr>
          <p:cNvSpPr txBox="1"/>
          <p:nvPr/>
        </p:nvSpPr>
        <p:spPr>
          <a:xfrm>
            <a:off x="6117150" y="704850"/>
            <a:ext cx="2459570" cy="11480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References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DB678A-45A7-BC41-753B-11F4EE89E1CE}"/>
              </a:ext>
            </a:extLst>
          </p:cNvPr>
          <p:cNvSpPr txBox="1"/>
          <p:nvPr/>
        </p:nvSpPr>
        <p:spPr>
          <a:xfrm>
            <a:off x="4999057" y="1557588"/>
            <a:ext cx="5263709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Blattman, S.B., Jiang, W., Oikonomou, P. and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Tavazoie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(2020). Prokaryotic single-cell RNA sequencing by in situ combinatorial indexing. Nature Microbiology, [online] 5(10), pp.1192–1201.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doi:https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://doi.org/10.1038/s41564-020-0729-6.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Carr, H.L., Turner, J.D., Major, T., Scheel-Toellner, D. and Filer, A. (2020). New Developments in Transcriptomic Analysis of Synovial Tissue. Frontiers in Medicine, [online] 7.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doi:https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://doi.org/10.3389/fmed.2020.00021.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Pountain, A.W. and Yanai, I. (2025). Dissecting microbial communities with single-cell transcriptome analysis. Science, 389(6764).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doi:https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://doi.org/10.1126/science.adp6252.</a:t>
            </a:r>
          </a:p>
        </p:txBody>
      </p:sp>
    </p:spTree>
    <p:extLst>
      <p:ext uri="{BB962C8B-B14F-4D97-AF65-F5344CB8AC3E}">
        <p14:creationId xmlns:p14="http://schemas.microsoft.com/office/powerpoint/2010/main" val="607034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3398</TotalTime>
  <Words>459</Words>
  <Application>Microsoft Office PowerPoint</Application>
  <PresentationFormat>Widescreen</PresentationFormat>
  <Paragraphs>37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Meiryo</vt:lpstr>
      <vt:lpstr>Aptos</vt:lpstr>
      <vt:lpstr>Aptos Display</vt:lpstr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Chioma Nnadi</dc:creator>
  <cp:lastModifiedBy>Chioma Nnadi</cp:lastModifiedBy>
  <cp:revision>14</cp:revision>
  <dcterms:created xsi:type="dcterms:W3CDTF">2025-11-01T20:21:07Z</dcterms:created>
  <dcterms:modified xsi:type="dcterms:W3CDTF">2025-11-08T09:49:11Z</dcterms:modified>
</cp:coreProperties>
</file>